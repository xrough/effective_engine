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30-45 minute project report. The spine: choose the right hedge objective, replay honestly, promote only after walk-forward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03120"/>
            <a:ext cx="950974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Effective Engine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182112"/>
            <a:ext cx="862511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i="0">
                <a:solidFill>
                  <a:srgbClr val="B9C4E0"/>
                </a:solidFill>
                <a:latin typeface="Calibri"/>
              </a:rPr>
              <a:t>Variance alpha, neural BSDE hedging, and execution-aware
walk-forward retraining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206240"/>
            <a:ext cx="3450045" cy="128016"/>
          </a:xfrm>
          <a:prstGeom prst="roundRect">
            <a:avLst>
              <a:gd name="adj" fmla="val 4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016973" y="4206240"/>
            <a:ext cx="1150015" cy="128016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166989" y="4206240"/>
            <a:ext cx="1150015" cy="128016"/>
          </a:xfrm>
          <a:prstGeom prst="roundRect">
            <a:avLst>
              <a:gd name="adj" fmla="val 4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4663440"/>
            <a:ext cx="88462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 i="0">
                <a:solidFill>
                  <a:srgbClr val="8C98B8"/>
                </a:solidFill>
                <a:latin typeface="Calibri"/>
              </a:rPr>
              <a:t>Xiaohao Ji   ·   independent project
C++ options trading engine + Python research pipeline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Thirty-Five Minute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298448"/>
          <a:ext cx="11057838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0989"/>
                <a:gridCol w="7519330"/>
                <a:gridCol w="143751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Main message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Motivation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Options alpha is signal, hedge, execution, and validation.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 min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State of art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From Black–Scholes to rough vol and deep hedging; deployment remains hard.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 min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Use BSDE learning as a hedge operator, not an alpha destroyer.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 min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C++ replay plus Python walk-forward retraining makes the idea testable.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 min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Results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Delta-only BSDE preserves most of BS Delta's OOS VRP capture.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 min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Outlook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Mature pieces, research-grade pieces, and next steps.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 min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28523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Talk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614416"/>
            <a:ext cx="1065550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research prototype for equity-index volatility trading: choose the right hedge objective, replay honestly, and promote only after walk-forward gates.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Effective Engine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The Project In One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27632"/>
            <a:ext cx="2926994" cy="93268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9224" y="1728216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Option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112629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SPY spot, ATM, 25Δ, SSVI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57930" y="2093976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32350" y="1627632"/>
            <a:ext cx="2926994" cy="93268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4646" y="1728216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Variance alpha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646" y="2112629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VRP + HAR-RV + skew / curvature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3352" y="2093976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97772" y="1627632"/>
            <a:ext cx="2926994" cy="93268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80068" y="1728216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Hedging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0068" y="2112629"/>
            <a:ext cx="2762402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BS, rough delta, neural BSDE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95944" y="3346704"/>
            <a:ext cx="2926080" cy="93268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78240" y="3447288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C++ replay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831701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fills, PnL, lifecycle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1436" y="3346704"/>
            <a:ext cx="2926080" cy="93268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713732" y="3447288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Walk-forward retrain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3732" y="3831701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train, export ONNX, replay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46704"/>
            <a:ext cx="2926080" cy="93268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" y="3447288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Promote or reject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3831701"/>
            <a:ext cx="2761488" cy="4103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balanced gates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621524" y="3813048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557016" y="3813048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861243" y="2560320"/>
            <a:ext cx="0" cy="740664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029968" y="2798064"/>
            <a:ext cx="0" cy="530352"/>
          </a:xfrm>
          <a:prstGeom prst="line">
            <a:avLst/>
          </a:prstGeom>
          <a:ln w="15875">
            <a:solidFill>
              <a:srgbClr val="5A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029968" y="2798064"/>
            <a:ext cx="7426756" cy="0"/>
          </a:xfrm>
          <a:prstGeom prst="line">
            <a:avLst/>
          </a:prstGeom>
          <a:ln w="15875">
            <a:solidFill>
              <a:srgbClr val="5A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9456724" y="2587751"/>
            <a:ext cx="0" cy="210313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176272" y="286207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5A6472"/>
                </a:solidFill>
                <a:latin typeface="Calibri"/>
              </a:rPr>
              <a:t>retrain · re-export · re-gate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8096" y="528523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Main design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5614416"/>
            <a:ext cx="1065550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project treats alpha, hedge, execution, and model lifecycle as one coupled system — not four separate research problems.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Effective Engine MVP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Market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What the trade is, and where the premium is supposed to come from.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What Is The Trading Question?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71600"/>
            <a:ext cx="5346039" cy="786384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516315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1">
                <a:solidFill>
                  <a:srgbClr val="191970"/>
                </a:solidFill>
                <a:latin typeface="Cambria"/>
              </a:rPr>
              <a:t>VRP  ≈  σ²(implied)  −  σ²(realized)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" y="244828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395728"/>
            <a:ext cx="5163159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implied variance is rich, short front variance can earn carry.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273707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684526"/>
            <a:ext cx="5163159" cy="37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realized volatility dominates, long gamma can profit from rebalancing.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" y="3187674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3135122"/>
            <a:ext cx="5163159" cy="37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Both legs are quoted, so the spread you cross is the first thing that eats the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" y="363827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585718"/>
            <a:ext cx="5163159" cy="37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Which of the two regimes you are in changes daily — the signal has to say which.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371600"/>
            <a:ext cx="5346039" cy="2724912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9895" y="15727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Project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1899" y="1954504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62775" y="1901952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SPY intraday option-chain replay.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1899" y="2205202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62775" y="2152650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Model-free VIX-style variance proxy, with an ATM fallback.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1899" y="245590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62775" y="2403348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SSVI smile features from ATM and 25Δ quotes.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11899" y="270659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62775" y="2654046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Greek attribution and daily stability reports.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029200"/>
            <a:ext cx="11057839" cy="96926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8096" y="523036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The constraint that decides everything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559552"/>
            <a:ext cx="10655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signal is only useful if hedging and transaction costs do not erase it. That is why the hedge objective — not the pricing model — is the strategic choice in this project.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Market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State Of Art: Volatility Trading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16736"/>
          <a:ext cx="11057838" cy="3090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9254"/>
                <a:gridCol w="4644292"/>
                <a:gridCol w="4644292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Classical / current tools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 it matters here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Black–Scholes, local vol, Heston, stochastic vol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Gives deltas, vegas, and sanity checks.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SVI / SSVI, skew, curvature, variance swaps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Alpha lives in surface dislocations, not only ATM IV.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Dynamics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Rough volatility and Markovian lifts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Short-dated skew has rough-style scaling.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Deep BSDE and deep hedging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High-dimensional hedging without finite-difference grids.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Walk-forward validation, execution replay, risk gates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Research signal must survive data drift and fills.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138927"/>
            <a:ext cx="11057839" cy="859536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340095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Where this project 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669279"/>
            <a:ext cx="10655503" cy="128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first four layers are well covered by the literature. The fifth — deployment — is where the prototype spends most of its 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Market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Data And Signal Construction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71600"/>
            <a:ext cx="5346039" cy="2450592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8096" y="15727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Available panel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1954504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1901952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SPY spot recovered from the option-chain panel.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205202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152650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ATM call / put quotes with bid and 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45590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403348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25Δ call / put quotes for skew and butterfly.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270659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654046"/>
            <a:ext cx="4760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SSVI parameters (ρ, φ) and realized-vol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371600"/>
            <a:ext cx="5346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Composite alpha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78727" y="1773936"/>
          <a:ext cx="5346038" cy="2048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28385"/>
                <a:gridCol w="181765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91440" marR="91440" marT="32004" marB="32004" anchor="ctr">
                    <a:solidFill>
                      <a:srgbClr val="0179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marL="91440" marR="91440" marT="32004" marB="32004" anchor="ctr">
                    <a:solidFill>
                      <a:srgbClr val="01796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VRP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HAR-RV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Skew / curvature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528523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Important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614416"/>
            <a:ext cx="1065550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Use the wings and the shape of the surface. ATM variance alone misses where index-option premium often hides — the 25Δ quotes are doing real work 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Market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Market Context In The Current Panel</a:t>
            </a:r>
          </a:p>
        </p:txBody>
      </p:sp>
      <p:pic>
        <p:nvPicPr>
          <p:cNvPr id="3" name="Picture 2" descr="fig2_market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559" y="1298448"/>
            <a:ext cx="9180576" cy="45902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980176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The dashboard tracks spot, ATM IV, realized vol, model-free VIX variance, 25Δ smile structure, and SSVI dynamics.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Hedging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Which risks the model should remove — and which residuals are the alpha.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PnL Anatomy: Alpha Versus Hedge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Delta-hedged option PnL, schematically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1">
                <a:solidFill>
                  <a:srgbClr val="191970"/>
                </a:solidFill>
                <a:latin typeface="Cambria"/>
              </a:rPr>
              <a:t>dΠ  ≈  Δ dS  +  ½ Γ d⟨S⟩  +  ν dσ  +  Θ dt  −  costs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523744"/>
            <a:ext cx="2065263" cy="84124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633472"/>
            <a:ext cx="2065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A6472"/>
                </a:solidFill>
                <a:latin typeface="Cambria"/>
              </a:rPr>
              <a:t>Δ 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62656"/>
            <a:ext cx="1955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spot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5071" y="2523744"/>
            <a:ext cx="2065263" cy="841248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815071" y="2633472"/>
            <a:ext cx="2065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1796F"/>
                </a:solidFill>
                <a:latin typeface="Cambria"/>
              </a:rPr>
              <a:t>½ Γ d⟨S⟩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9935" y="2962656"/>
            <a:ext cx="1955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gamma / realized variance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3215" y="2523744"/>
            <a:ext cx="2065263" cy="841248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063215" y="2633472"/>
            <a:ext cx="2065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1796F"/>
                </a:solidFill>
                <a:latin typeface="Cambria"/>
              </a:rPr>
              <a:t>ν dσ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8079" y="2962656"/>
            <a:ext cx="1955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vega / surface move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1359" y="2523744"/>
            <a:ext cx="2065263" cy="84124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1359" y="2633472"/>
            <a:ext cx="2065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5A6472"/>
                </a:solidFill>
                <a:latin typeface="Cambria"/>
              </a:rPr>
              <a:t>Θ 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6223" y="2962656"/>
            <a:ext cx="1955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decay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9503" y="2523744"/>
            <a:ext cx="2065263" cy="841248"/>
          </a:xfrm>
          <a:prstGeom prst="roundRect">
            <a:avLst>
              <a:gd name="adj" fmla="val 70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59503" y="2633472"/>
            <a:ext cx="206526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B85042"/>
                </a:solidFill>
                <a:latin typeface="Cambria"/>
              </a:rPr>
              <a:t>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4367" y="2962656"/>
            <a:ext cx="19555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" y="3710152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9808" y="3657600"/>
            <a:ext cx="10874959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hedge should remove unwanted spot exposure.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" y="396085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3908298"/>
            <a:ext cx="10874959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It should </a:t>
            </a:r>
            <a:r>
              <a:rPr sz="1300" b="1" i="0">
                <a:solidFill>
                  <a:srgbClr val="B85042"/>
                </a:solidFill>
                <a:latin typeface="Calibri"/>
              </a:rPr>
              <a:t>not automatically remove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the gamma / vega residual that carries the volatility premium.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82896"/>
            <a:ext cx="11057839" cy="7863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508406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Consequence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413248"/>
            <a:ext cx="10655503" cy="54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hedging objective is a strategic choice, not a modelling detail.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Hedging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Four Hedgers Tested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35024"/>
          <a:ext cx="11057838" cy="2980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75038"/>
                <a:gridCol w="818280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Hedger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Delta computation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BSDelta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N(d₁) at market ATM IV and historical time-to-expiry.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RoughVolDelta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BS delta plus a Bergomi–Guyon smile-slope correction.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NeuralBSDE-Full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ONNX network trained to replicate the full discounted payoff.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NeuralBSDE-Delta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ONNX network trained to replicate only the BS delta hedge PnL.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029200"/>
            <a:ext cx="11057839" cy="96926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23036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559552"/>
            <a:ext cx="10655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neural hedge can be useful only if its training target matches the trading objective. Everything that follows is a test of that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Hedging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Rough Volatility: Why It Enters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35024"/>
            <a:ext cx="6035040" cy="640080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5852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1">
                <a:solidFill>
                  <a:srgbClr val="191970"/>
                </a:solidFill>
                <a:latin typeface="Cambria"/>
              </a:rPr>
              <a:t>Xₜ = ( τ, log(S/K), Vₜ, U₁, U₂, U₃, U₄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" y="221053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157984"/>
            <a:ext cx="5852159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Rough-vol models capture short-time skew scaling.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2461234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408681"/>
            <a:ext cx="5852159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Four OU factors approximate the rough kernel in Markovian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" y="2711932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659380"/>
            <a:ext cx="5852159" cy="378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network input is 7-dimensional — already beyond comfortable finite-difference grids.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7728" y="1335024"/>
            <a:ext cx="4657039" cy="640080"/>
          </a:xfrm>
          <a:prstGeom prst="roundRect">
            <a:avLst>
              <a:gd name="adj" fmla="val 5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59168" y="1335024"/>
            <a:ext cx="44741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01796F"/>
                </a:solidFill>
                <a:latin typeface="Cambria"/>
              </a:rPr>
              <a:t>Δ(rough) = Δ(BS) + Vega · ∂σₖ/∂S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67728" y="2157984"/>
            <a:ext cx="4657039" cy="188366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200900" y="2411704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51775" y="2359152"/>
            <a:ext cx="4071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more complete hedge than the BS delta.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900" y="2662402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51775" y="2609850"/>
            <a:ext cx="4071823" cy="216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But it can consume carry in a positive-VRP regime.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8096" y="528523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Why it is only a stepping 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614416"/>
            <a:ext cx="1065550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rough correction is still a closed-form patch on a BS delta. The BSDE replaces the patch with a learned hedge operator on the full 7-D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Hedging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Deep BSDE Hedging: The Modelling Bridge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35024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1087495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 i="1">
                <a:solidFill>
                  <a:srgbClr val="191970"/>
                </a:solidFill>
                <a:latin typeface="Cambria"/>
              </a:rPr>
              <a:t>Y(t+Δt)  =  Y(t)  +  Z(t) · ΔW(t),         Y(T) = Φ(X(T))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" y="2317153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2267712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By Feynman–Kac, Y(t) = u(t, X(t)) and Z(t) is the Brownian hedge exposure.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256162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512187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shared-weight MLP maps each normalized state to (Y, Z).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" y="2806103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756662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Export to ONNX makes the hedge available inside the C++ replay loop.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511296"/>
          <a:ext cx="11057838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881"/>
                <a:gridCol w="8403957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Training mode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Economic meaning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lrh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Full payoff replication — removes nearly all residual alpha.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lrh_delta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Delta-only target — leaves gamma + vega as VRP exposure.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175503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537667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One line of code, two different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705855"/>
            <a:ext cx="10655503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Same network, same state, same export path. Only the training target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Hedging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The Key Discovery: Full Replication Can Kill Alpha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35024"/>
            <a:ext cx="5346039" cy="6583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1335024"/>
            <a:ext cx="516315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5A6472"/>
                </a:solidFill>
                <a:latin typeface="Cambria"/>
              </a:rPr>
              <a:t>Y₀ + Σ ZᵢΔWᵢ  ≈  e⁻ʳᵀ(S(T) − K)⁺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39696"/>
            <a:ext cx="5346039" cy="21579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2340864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Full replication target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719489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670048"/>
            <a:ext cx="476082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model learns to neutralize payoff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963964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914523"/>
            <a:ext cx="4760823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That includes the gamma / vega residual the variance strategy wants.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335024"/>
            <a:ext cx="5346039" cy="658368"/>
          </a:xfrm>
          <a:prstGeom prst="roundRect">
            <a:avLst>
              <a:gd name="adj" fmla="val 5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70167" y="1335024"/>
            <a:ext cx="5163159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1">
                <a:solidFill>
                  <a:srgbClr val="01796F"/>
                </a:solidFill>
                <a:latin typeface="Cambria"/>
              </a:rPr>
              <a:t>Φ(Δ)  =  Σ N(d₁,ᵢ) σᵢ Sᵢ ΔWᵢ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2139696"/>
            <a:ext cx="5346039" cy="21579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9895" y="2340864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Delta-only 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1899" y="2719489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62775" y="2670048"/>
            <a:ext cx="476082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model learns the hedge component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1899" y="2963964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62775" y="2914523"/>
            <a:ext cx="476082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residual Γ + ν remains available as alpha.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084064"/>
            <a:ext cx="11057839" cy="914400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8096" y="528523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The result this talk is built around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614416"/>
            <a:ext cx="1065550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theoretically cleaner hedge was economically worse. Full replication kept 26.9% of BS Delta's PnL; the delta-only target kept 83.6%.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Hedging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Replay, execution, and the retraining loop that makes the claim testable.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C++ Event-Driven Replay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72768"/>
            <a:ext cx="2926994" cy="877824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9224" y="1673352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Historical 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029236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market + option quotes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57930" y="2011680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32350" y="1572768"/>
            <a:ext cx="2926994" cy="877824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14646" y="1673352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IV + smile extractors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4646" y="2029236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ATM, VIX, SSVI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23352" y="2011680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97772" y="1572768"/>
            <a:ext cx="2926994" cy="877824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780068" y="1673352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Composite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0068" y="2029236"/>
            <a:ext cx="2762402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VRP / HAR / skew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58984" y="2450591"/>
            <a:ext cx="0" cy="393193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95944" y="2889504"/>
            <a:ext cx="2926080" cy="877824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778240" y="2990088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StrategyController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345972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straddle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1436" y="2889504"/>
            <a:ext cx="2926080" cy="877824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13732" y="2990088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SimpleExecSim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732" y="3345972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order lifecycle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889504"/>
            <a:ext cx="2926080" cy="877824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9224" y="2990088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Delta / neural BSDE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" y="3345972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hedge orders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621524" y="3328416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557016" y="3205520"/>
            <a:ext cx="101041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57016" y="3486424"/>
            <a:ext cx="1010412" cy="0"/>
          </a:xfrm>
          <a:prstGeom prst="line">
            <a:avLst/>
          </a:prstGeom>
          <a:ln w="19050">
            <a:solidFill>
              <a:srgbClr val="0179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84448" y="3521537"/>
            <a:ext cx="9555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1">
                <a:solidFill>
                  <a:srgbClr val="01796F"/>
                </a:solidFill>
                <a:latin typeface="Calibri"/>
              </a:rPr>
              <a:t>fills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3767328"/>
            <a:ext cx="0" cy="393192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31436" y="4206240"/>
            <a:ext cx="2926080" cy="877824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13732" y="4306824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AlphaPnLTracker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13732" y="4662708"/>
            <a:ext cx="2761488" cy="3862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Greeks + daily CSV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285231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Positions update only from execution fills — events, provenance, risk controls, and replayable PnL.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System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Execution Layer v2: Why It Matters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16736"/>
          <a:ext cx="11057837" cy="29992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0411"/>
                <a:gridCol w="4533713"/>
                <a:gridCol w="453371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Now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Hedge fills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Hedgers could self-fill and update positions.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Hedgers submit orders; execution publishes fills.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Alpha and hedge fills could blur.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Orders and fills carry producer and order id.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Lifecycle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One-shot fill assumption.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Accepted, rejected, partial, filled, canceled reports.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Risk gates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Mostly logging.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Block, cancel, and reduce-only behaviour in the router.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Position updates could precede execution.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Positions update only from execution fills.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175503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37667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Research implication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705855"/>
            <a:ext cx="10655503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Once execution is explicit, turnover and transaction costs become model-selection criteria — not footnotes.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Walk-Forward Retraining Is First-Class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9224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191970"/>
                </a:solidFill>
                <a:latin typeface="Cambria"/>
              </a:rPr>
              <a:t>Daily expanding schedule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6541" y="2011680"/>
            <a:ext cx="219456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1717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544013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191970"/>
                </a:solidFill>
                <a:latin typeface="Cambria"/>
              </a:rPr>
              <a:t>Calibrate + train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1330" y="2011680"/>
            <a:ext cx="219456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6506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38802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191970"/>
                </a:solidFill>
                <a:latin typeface="Cambria"/>
              </a:rPr>
              <a:t>Export ONNX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6119" y="2011680"/>
            <a:ext cx="219456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51295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33591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191970"/>
                </a:solidFill>
                <a:latin typeface="Cambria"/>
              </a:rPr>
              <a:t>Neural + BS replay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80908" y="2011680"/>
            <a:ext cx="219456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46084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8380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01796F"/>
                </a:solidFill>
                <a:latin typeface="Cambria"/>
              </a:rPr>
              <a:t>Balanced gates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75698" y="2011680"/>
            <a:ext cx="219455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40874" y="1554480"/>
            <a:ext cx="1583893" cy="914400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123170" y="1554480"/>
            <a:ext cx="1419301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050" b="1" i="0">
                <a:solidFill>
                  <a:srgbClr val="01796F"/>
                </a:solidFill>
                <a:latin typeface="Cambria"/>
              </a:rPr>
              <a:t>Promote or reject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32820" y="2468880"/>
            <a:ext cx="0" cy="457200"/>
          </a:xfrm>
          <a:prstGeom prst="line">
            <a:avLst/>
          </a:prstGeom>
          <a:ln w="15875">
            <a:solidFill>
              <a:srgbClr val="5A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358874" y="2926080"/>
            <a:ext cx="9473946" cy="0"/>
          </a:xfrm>
          <a:prstGeom prst="line">
            <a:avLst/>
          </a:prstGeom>
          <a:ln w="15875">
            <a:solidFill>
              <a:srgbClr val="5A64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58874" y="2505456"/>
            <a:ext cx="0" cy="420624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16581" y="296265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5A6472"/>
                </a:solidFill>
                <a:latin typeface="Calibri"/>
              </a:rPr>
              <a:t>next deploy date — the schedule advances one day and the loop repeats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55701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92808" y="3529584"/>
            <a:ext cx="2892155" cy="256032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892808" y="3529584"/>
            <a:ext cx="289215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84963" y="3529584"/>
            <a:ext cx="1060457" cy="25603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784963" y="3529584"/>
            <a:ext cx="106045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904487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92808" y="3877056"/>
            <a:ext cx="4145423" cy="256032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038231" y="3877056"/>
            <a:ext cx="1060457" cy="25603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368" y="4251959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92808" y="4224528"/>
            <a:ext cx="5398690" cy="256032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291498" y="4224528"/>
            <a:ext cx="1060457" cy="25603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599431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92808" y="4572000"/>
            <a:ext cx="6651958" cy="256032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544766" y="4572000"/>
            <a:ext cx="1060457" cy="256032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984248" y="4974336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199132" y="4933188"/>
            <a:ext cx="12573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train (expanding)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30752" y="4974336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945635" y="4933188"/>
            <a:ext cx="7772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deploy 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413248"/>
            <a:ext cx="11057839" cy="859536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8096" y="5614416"/>
            <a:ext cx="10655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demo/runs/walk_forward/&lt;run_id&gt;/windows/&lt;deploy_date&gt;/  stores artifacts, replay CSVs, logs, window manifests, and summary reports.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System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Promotion Gates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16736"/>
          <a:ext cx="11057838" cy="3749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2724"/>
                <a:gridCol w="862511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Checks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Causality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Train only on rows before the deploy date; record train and deploy row counts.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Artifact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Checkpoint, ONNX, normalization, Y₀ file, schema, hashes.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ONNX parity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PyTorch versus ONNX output agreement.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Delta sanity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ATM model delta finite and close to BS delta.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Replay health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Neural and BS replays complete and write a non-empty daily CSV.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Baseline guard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Neural hedge must not catastrophically underperform BS Delta.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175503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37667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Default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705855"/>
            <a:ext cx="10655503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 live artifact is overwritten unless every window passes and --promote-if-pass is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What the delta-only BSDE kept, and what full replication threw away.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OOS Four-Strategy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Out-of-sample, 2026-01-02 → 2026-02-06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63040"/>
          <a:ext cx="11057837" cy="2761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881"/>
                <a:gridCol w="2100989"/>
                <a:gridCol w="2100989"/>
                <a:gridCol w="2100989"/>
                <a:gridCol w="2100989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OOS metric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BSDelta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RoughVol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BSDE-Full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BSDE-Delta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Hedge PnL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1,059,605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698,612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290,817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892,723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Txn cost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1,801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643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8,201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9,005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Total PnL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1,060,036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700,201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284,847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885,950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vs BSDelta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66.0%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26.9%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83.6%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5029200"/>
            <a:ext cx="11057839" cy="96926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523036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559552"/>
            <a:ext cx="10655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Full replication is theoretically clean but economically wrong for this alpha. The delta-only BSDE keeps most of the variance-premium exposure — at a transaction cost still small next to the PnL.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Cumulative OOS PnL</a:t>
            </a:r>
          </a:p>
        </p:txBody>
      </p:sp>
      <p:pic>
        <p:nvPicPr>
          <p:cNvPr id="3" name="Picture 2" descr="fig1_cumulative_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456973"/>
            <a:ext cx="6727844" cy="3669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50804" y="1298448"/>
            <a:ext cx="4073962" cy="39867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51972" y="1499616"/>
            <a:ext cx="36716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What it says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83976" y="187824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34852" y="182880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BSDelta and the delta-only BSDE track each other closely.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83976" y="227829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34852" y="222885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full-replication BSDE spends much of the window near zero or negative.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83976" y="267834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34852" y="262890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RoughDelta is smooth but systematically lower — it hedges away carry.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04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Delta-only BSDE closes at 84% of BS Delta; full replication closes at 27%.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Greek Attribution Explains The Difference</a:t>
            </a:r>
          </a:p>
        </p:txBody>
      </p:sp>
      <p:pic>
        <p:nvPicPr>
          <p:cNvPr id="3" name="Picture 2" descr="fig3_greek_at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1456973"/>
            <a:ext cx="6727844" cy="36697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550804" y="1298448"/>
            <a:ext cx="4073962" cy="398678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51972" y="1499616"/>
            <a:ext cx="36716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Why the gap opens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83976" y="1878241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34852" y="182880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Gamma and vega are the intended alpha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83976" y="2278291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34852" y="222885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hedge objective that erases them also erases the strategy.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83976" y="2678341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34852" y="2628900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Transaction cost is visible but second-order next to the residual that was hedged 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504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The difference between the four bars is not hedge quality — it is how much residual each objective left alive.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Five-Day Walk-Forward Demo Result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89888"/>
            <a:ext cx="2613583" cy="1316736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76656" y="1572768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91970"/>
                </a:solidFill>
                <a:latin typeface="Cambria"/>
              </a:rPr>
              <a:t>$3.415M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267712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Total PnL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389888"/>
            <a:ext cx="2613583" cy="1316736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91407" y="1572768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01796F"/>
                </a:solidFill>
                <a:latin typeface="Cambria"/>
              </a:rPr>
              <a:t>3.18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1407" y="2267712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Daily Sharpe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389888"/>
            <a:ext cx="2613583" cy="1316736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6159" y="1572768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91970"/>
                </a:solidFill>
                <a:latin typeface="Cambria"/>
              </a:rPr>
              <a:t>138.8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6159" y="2267712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Turnover
(fills / day)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11183" y="1389888"/>
            <a:ext cx="2613583" cy="1316736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20911" y="1572768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01796F"/>
                </a:solidFill>
                <a:latin typeface="Cambria"/>
              </a:rPr>
              <a:t>0.537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0911" y="2267712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Model delta
(BS: 0.504)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017520"/>
          <a:ext cx="11057837" cy="859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32724"/>
                <a:gridCol w="3317351"/>
                <a:gridCol w="1769254"/>
                <a:gridCol w="1769254"/>
                <a:gridCol w="176925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Distribution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Mean daily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P5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Daily PnL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$682,958 ± $214,586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$311K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$690K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$929K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66928" y="4992623"/>
            <a:ext cx="11057839" cy="100584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8096" y="519379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Why walk-forward mattered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522975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unretrained synthetic model was out-of-distribution on SPY. SPY calibration fixed the scale of V(t), strike, maturity and skew — the same network went from unusable to a 3.18 daily Sharpe with no architecture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Daily PnL Stability</a:t>
            </a:r>
          </a:p>
        </p:txBody>
      </p:sp>
      <p:pic>
        <p:nvPicPr>
          <p:cNvPr id="3" name="Picture 2" descr="fig4_dail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407" y="1298448"/>
            <a:ext cx="7040880" cy="4224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50992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The model comparison is not only final PnL: daily dispersion, transaction costs, and residual risk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Status And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What is solid, what is still research-grade, and what comes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What Is Mature Now?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371600"/>
            <a:ext cx="5391759" cy="288950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8096" y="1572768"/>
            <a:ext cx="4989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Solid prototype pieces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195139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50976" y="190195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Event-driven C++ replay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2195868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2146427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Multi-strategy hedge comparison.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244034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239090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Greek attribution and daily CSV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2684818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635377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ONNX inference inside replay.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" y="292929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7985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Walk-forward run manifests and gates.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371600"/>
            <a:ext cx="5391759" cy="288950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4175" y="1572768"/>
            <a:ext cx="4989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Still research-grade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6179" y="1951393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17055" y="190195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Small public / local panel in the repo.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6179" y="2195868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17055" y="2146427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 live broker connectivity.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66179" y="2440343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17055" y="239090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Simplified execution simulator.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6179" y="2684818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17055" y="2635377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BSDE objective needs broader regime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66179" y="2929293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17055" y="2879852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Risk sizing and portfolio construction remain MVP-level.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93792"/>
            <a:ext cx="11057839" cy="804672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68096" y="5394959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How to read this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724144"/>
            <a:ext cx="10655503" cy="73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It is a working prototype of a research process, not a live trading system.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Status And Outlook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Main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6304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44932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mbria"/>
              </a:rPr>
              <a:t>Data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69621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The research claim needs more dates, more regimes, and stricter OOS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27228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mbria"/>
              </a:rPr>
              <a:t>Cost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1917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Fills are replay-realistic but not yet venue- or microstructure-realistic.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089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31089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952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mbria"/>
              </a:rPr>
              <a:t>Model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4213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Delta-only wins here, but it should be stress-tested against alternative hedge losses and residual-risk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319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66928" y="39319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91820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mbria"/>
              </a:rPr>
              <a:t>Rough state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165091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U-factors are retained but zeroed at inference to avoid learned confounds.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548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47548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74116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B85042"/>
                </a:solidFill>
                <a:latin typeface="Cambria"/>
              </a:rPr>
              <a:t>Promotion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88052"/>
            <a:ext cx="1054577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50" b="0" i="0">
                <a:solidFill>
                  <a:srgbClr val="5A6472"/>
                </a:solidFill>
                <a:latin typeface="Calibri"/>
              </a:rPr>
              <a:t>Gates exist; production would need monitoring, rollback, and capital / risk budgets.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Status And Outlook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Roadmap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316736"/>
          <a:ext cx="11057838" cy="3273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3881"/>
                <a:gridCol w="8403957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Next step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More data regimes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Test positive VRP, negative VRP, stress, quiet, high-rate and low-rate windows.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Better replay costs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Add latency, queue position, venue fee model, and spread impact.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Residual-risk gate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Evaluate hedge residual variance, not only total PnL.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Objective sweep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Compare full payoff, delta-only, residual variance, and cost-aware losses.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Portfolio layer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Move from one straddle engine to risk-budgeted multi-expiry / multi-strike books.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66928" y="5175503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537667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The next result worth having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5705855"/>
            <a:ext cx="10655503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An objective sweep on more regimes is the single experiment that would most change confidence in the delta-only finding.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Status And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408176"/>
            <a:ext cx="11057839" cy="1042415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8096" y="1609344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Main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38528"/>
            <a:ext cx="10655503" cy="3108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neural BSDE should be used as a hedging operator inside a full trading system — not as an isolated pricing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2768" y="2798064"/>
            <a:ext cx="9046159" cy="1225296"/>
          </a:xfrm>
          <a:prstGeom prst="roundRect">
            <a:avLst>
              <a:gd name="adj" fmla="val 5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664208" y="2798064"/>
            <a:ext cx="8863279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1">
                <a:solidFill>
                  <a:srgbClr val="01796F"/>
                </a:solidFill>
                <a:latin typeface="Cambria"/>
              </a:rPr>
              <a:t>Which risks should the model hedge,
and which residuals are the alpha?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" y="4502759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4443984"/>
            <a:ext cx="10874959" cy="2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Full replication can destroy the variance premium it was meant to trade.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" y="4816703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757928"/>
            <a:ext cx="10874959" cy="2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A delta-only BSDE preserves most of the exposure — 83.6% of BS Delta's OOS PnL.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" y="5130647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5071872"/>
            <a:ext cx="10874959" cy="2291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Both claims survive only because replay, execution, and gates are part of the experiment.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Status And Outlook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8932" y="15124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463040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Black, F. and Scholes, M. (1973). The Pricing of Options and Corporate Liabilities. Journal of Political Economy 81(3), 637–654.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" y="194745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898015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Heston, S. L. (1993). A Closed-Form Solution for Options with Stochastic Volatility. Review of Financial Studies 6(2), 327–343.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" y="2382431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332990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Dupire, B. (1994). Pricing with a Smile. Risk 7(1), 18–20.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" y="281740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767965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Gatheral, J. (2006). The Volatility Surface: A Practitioner's Guide. Wiley.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" y="32523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202940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Bergomi, L. (2015). Stochastic Volatility Modeling. CRC Press.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" y="368735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3637915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Gatheral, J., Jaisson, T. and Rosenbaum, M. (2018). Volatility is Rough. Quantitative Finance 18(6), 933–949.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" y="4122331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4072890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Han, J., Jentzen, A. and E, W. (2018). Solving High-Dimensional PDEs Using Deep Learning. PNAS 115(34), 8505–8510.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" y="455730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9808" y="4507865"/>
            <a:ext cx="10874959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Buehler, H., Gonon, L., Teichmann, J. and Wood, B. (2019). Deep Hedging. Quantitative Finance 19(8), 1271–1291.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Effective Engine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0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B9C4E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416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8C98B8"/>
                </a:solidFill>
                <a:latin typeface="Courier New"/>
              </a:rPr>
              <a:t>Effective Engine MVP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88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01796F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3936" y="2560320"/>
            <a:ext cx="97776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mbria"/>
              </a:rPr>
              <a:t>Component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3936" y="3218688"/>
            <a:ext cx="729817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 i="0">
                <a:solidFill>
                  <a:srgbClr val="A9B6D4"/>
                </a:solidFill>
                <a:latin typeface="Calibri"/>
              </a:rPr>
              <a:t>Blank, reusable versions of every layout above — for data-analysis talks and quant interviews.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689723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812519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935315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58111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2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180907" y="4224528"/>
            <a:ext cx="1020723" cy="100584"/>
          </a:xfrm>
          <a:prstGeom prst="roundRect">
            <a:avLst>
              <a:gd name="adj" fmla="val 4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How To Use This 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Every slide in this deck is four to eight lines of Python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6081811" cy="2889504"/>
          </a:xfrm>
          <a:prstGeom prst="roundRect">
            <a:avLst>
              <a:gd name="adj" fmla="val 3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04672" y="1627632"/>
            <a:ext cx="5606323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from slidekit import *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/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d = Deck()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s = d.slide()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/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title(s, 'Does the signal survive costs?')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chart_with_readout(s, 1.5, 'Net Sharpe vs cost',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                   ['Breaks even at 8bp.',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                    'Live cost is 3bp.'])</a:t>
            </a:r>
          </a:p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1150" b="0" i="0">
                <a:solidFill>
                  <a:srgbClr val="D8E2F5"/>
                </a:solidFill>
                <a:latin typeface="Courier New"/>
              </a:rPr>
              <a:t>d.save('out.pptx')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77923" y="1426464"/>
            <a:ext cx="4646843" cy="2889504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79091" y="1627632"/>
            <a:ext cx="42445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What you 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11095" y="2003145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61971" y="1956816"/>
            <a:ext cx="4061627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One palette and type scale, applied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11095" y="2241397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61971" y="2195068"/>
            <a:ext cx="4061627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Placeholders that become real figures by passing image=path.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1095" y="262900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61971" y="2582672"/>
            <a:ext cx="4061627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Time-split geometry as data, not as hand-drawn boxes.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1095" y="286725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61971" y="2820924"/>
            <a:ext cx="4061627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Tables, KPI tiles, flows and verdict blocks that already line up.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4590288"/>
          <a:ext cx="11057838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1567"/>
                <a:gridCol w="8846271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slidekit.py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The components. Palette at the top — change three colours and the whole deck re-skins.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build_deck.py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This deck. Content only; no layout maths.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fig/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Figures. plot_holder(..., image=fig('x.png')).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how to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Time Splits — Why The Geometry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The first thing an interviewer checks is whether your split could leak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1368" y="1572768"/>
            <a:ext cx="5894039" cy="457200"/>
          </a:xfrm>
          <a:prstGeom prst="roundRect">
            <a:avLst>
              <a:gd name="adj" fmla="val 6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801368" y="1572768"/>
            <a:ext cx="589403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95407" y="1572768"/>
            <a:ext cx="1964679" cy="457200"/>
          </a:xfrm>
          <a:prstGeom prst="roundRect">
            <a:avLst>
              <a:gd name="adj" fmla="val 6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95407" y="1572768"/>
            <a:ext cx="196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0087" y="1572768"/>
            <a:ext cx="1964679" cy="45720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60087" y="1572768"/>
            <a:ext cx="1964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01368" y="2231136"/>
            <a:ext cx="9823399" cy="0"/>
          </a:xfrm>
          <a:prstGeom prst="line">
            <a:avLst/>
          </a:prstGeom>
          <a:ln w="1397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29292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257217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5142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13067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40992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8917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396842" y="2185416"/>
            <a:ext cx="0" cy="91440"/>
          </a:xfrm>
          <a:prstGeom prst="line">
            <a:avLst/>
          </a:prstGeom>
          <a:ln w="11430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01368" y="230428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earliest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3067" y="230428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latest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45920"/>
            <a:ext cx="1143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Holdout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926080"/>
            <a:ext cx="5346039" cy="1920240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8096" y="312724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What a random split does wrong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" y="3502761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976" y="3456432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 shuffled split puts tomorrow in train and today in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" y="3741013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0976" y="3694684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Overlapping labels leak across the boundary.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" y="3979265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0976" y="3932936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Cross-sectional data leaks through whole dates, not single rows.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8727" y="2926080"/>
            <a:ext cx="5346039" cy="1920240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79895" y="312724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What the geometry must show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1899" y="350276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62775" y="3456432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Time runs one way, and train is always to the left of test.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1899" y="374101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62775" y="3694684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Any gap between them is deliberate, and you can name its length.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11899" y="3979265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62775" y="3932936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number of folds is visible, not asserted.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175503"/>
            <a:ext cx="11057839" cy="822960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8096" y="5376671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The question behind the picture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5705855"/>
            <a:ext cx="10655503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“Could a row in train have been unknowable at the time the test row was scored?” If the diagram cannot answer that, redraw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time splits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Time Splits — Walk-Forward (Expanding Window)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split_walk_forward(s, x, y, w, folds=5)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91055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1368" y="1536192"/>
            <a:ext cx="2947019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01368" y="1536192"/>
            <a:ext cx="29470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48387" y="1536192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48387" y="1536192"/>
            <a:ext cx="108057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2082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1965960"/>
            <a:ext cx="4224061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025429" y="1965960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45059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1368" y="2395728"/>
            <a:ext cx="5501103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302471" y="2395728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88036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1368" y="2825496"/>
            <a:ext cx="6778145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579513" y="2825496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1368" y="3255264"/>
            <a:ext cx="8055187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9856555" y="3255264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1801368" y="3877056"/>
            <a:ext cx="9823399" cy="0"/>
          </a:xfrm>
          <a:prstGeom prst="line">
            <a:avLst/>
          </a:prstGeom>
          <a:ln w="1397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1368" y="395020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earliest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3067" y="395020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latest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1368" y="435254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016252" y="4311396"/>
            <a:ext cx="16687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train (grows each step)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9352" y="435254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74235" y="4311396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deploy / test window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Use when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" y="51486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0976" y="5102352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You retrain on a schedule and want the deployed model each day.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" y="5386933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50976" y="5340604"/>
            <a:ext cx="4760823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History is short and you cannot afford to throw the early data away.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8727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79895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Say this out loud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1899" y="51486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62775" y="5102352"/>
            <a:ext cx="4760823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“Each window trains only on rows strictly before its deploy date.”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1899" y="5536285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62775" y="5489956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“The reported metric is the concatenation of the deploy windows.”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time splits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Time Splits — Rolling (Sliding)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split_rolling(s, x, y, w, folds=5, width=0.34)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91055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11181" y="1536192"/>
            <a:ext cx="3336619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11181" y="1536192"/>
            <a:ext cx="33366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47800" y="1536192"/>
            <a:ext cx="1079494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47800" y="1536192"/>
            <a:ext cx="107949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20824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2085" y="1965960"/>
            <a:ext cx="3339955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92041" y="1965960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66928" y="245059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2802" y="2395728"/>
            <a:ext cx="3339955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842758" y="2395728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88036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3520" y="2825496"/>
            <a:ext cx="3339955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9193475" y="2825496"/>
            <a:ext cx="1080573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Window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8840" y="3255264"/>
            <a:ext cx="3336619" cy="310896"/>
          </a:xfrm>
          <a:prstGeom prst="rect">
            <a:avLst/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535459" y="3255264"/>
            <a:ext cx="1079494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1801368" y="3877056"/>
            <a:ext cx="9823399" cy="0"/>
          </a:xfrm>
          <a:prstGeom prst="line">
            <a:avLst/>
          </a:prstGeom>
          <a:ln w="1397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1368" y="395020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earliest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3067" y="3950208"/>
            <a:ext cx="49116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latest 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1368" y="435254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016252" y="4311396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train (fixed length)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53612" y="435254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968496" y="4311396"/>
            <a:ext cx="14630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deploy / test window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Use when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" y="51486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0976" y="5102352"/>
            <a:ext cx="4760823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data-generating process drifts and old regimes actively mislead.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" y="5536285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50976" y="5489956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You want every fold trained on the same amount of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8727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79895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The trade-off to 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11899" y="5148681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62775" y="5102352"/>
            <a:ext cx="4760823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Expanding uses more data; rolling adapts faster.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11899" y="5386933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62775" y="5340604"/>
            <a:ext cx="4760823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Choosing between them is an empirical question — show both curves.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time splits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Time Splits — Purged K-Fold With Embargo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split_purged_kfold(s, x, y, w, folds=5, purge=.045, embargo=.045)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63623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Fold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1368" y="1517904"/>
            <a:ext cx="1964679" cy="29260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01368" y="1517904"/>
            <a:ext cx="196467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766047" y="1517904"/>
            <a:ext cx="442052" cy="292608"/>
          </a:xfrm>
          <a:prstGeom prst="rect">
            <a:avLst/>
          </a:prstGeom>
          <a:solidFill>
            <a:srgbClr val="D3DAE6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208100" y="1517904"/>
            <a:ext cx="741666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96596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Fold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" y="1920240"/>
            <a:ext cx="152262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152262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3994" y="1920240"/>
            <a:ext cx="442052" cy="292608"/>
          </a:xfrm>
          <a:prstGeom prst="rect">
            <a:avLst/>
          </a:prstGeom>
          <a:solidFill>
            <a:srgbClr val="9BA6B8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766047" y="1920240"/>
            <a:ext cx="1964679" cy="29260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30727" y="1920240"/>
            <a:ext cx="442052" cy="292608"/>
          </a:xfrm>
          <a:prstGeom prst="rect">
            <a:avLst/>
          </a:prstGeom>
          <a:solidFill>
            <a:srgbClr val="D3DAE6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72780" y="1920240"/>
            <a:ext cx="545198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72780" y="1920240"/>
            <a:ext cx="54519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368296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Fold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2322576"/>
            <a:ext cx="348730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01368" y="2322576"/>
            <a:ext cx="3487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88674" y="2322576"/>
            <a:ext cx="442052" cy="292608"/>
          </a:xfrm>
          <a:prstGeom prst="rect">
            <a:avLst/>
          </a:prstGeom>
          <a:solidFill>
            <a:srgbClr val="9BA6B8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30727" y="2322576"/>
            <a:ext cx="1964679" cy="29260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695407" y="2322576"/>
            <a:ext cx="442052" cy="292608"/>
          </a:xfrm>
          <a:prstGeom prst="rect">
            <a:avLst/>
          </a:prstGeom>
          <a:solidFill>
            <a:srgbClr val="D3DAE6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37460" y="2322576"/>
            <a:ext cx="348730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37460" y="2322576"/>
            <a:ext cx="3487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7706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Fold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01368" y="2724912"/>
            <a:ext cx="545198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01368" y="2724912"/>
            <a:ext cx="545198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53354" y="2724912"/>
            <a:ext cx="442052" cy="292608"/>
          </a:xfrm>
          <a:prstGeom prst="rect">
            <a:avLst/>
          </a:prstGeom>
          <a:solidFill>
            <a:srgbClr val="9BA6B8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95407" y="2724912"/>
            <a:ext cx="1964679" cy="29260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660087" y="2724912"/>
            <a:ext cx="442052" cy="292608"/>
          </a:xfrm>
          <a:prstGeom prst="rect">
            <a:avLst/>
          </a:prstGeom>
          <a:solidFill>
            <a:srgbClr val="D3DAE6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102140" y="2724912"/>
            <a:ext cx="152262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02140" y="2724912"/>
            <a:ext cx="152262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7296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Fold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01368" y="3127248"/>
            <a:ext cx="7416666" cy="29260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801368" y="3127248"/>
            <a:ext cx="741666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18034" y="3127248"/>
            <a:ext cx="442052" cy="292608"/>
          </a:xfrm>
          <a:prstGeom prst="rect">
            <a:avLst/>
          </a:prstGeom>
          <a:solidFill>
            <a:srgbClr val="9BA6B8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660087" y="3127248"/>
            <a:ext cx="1964679" cy="29260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801368" y="362102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016252" y="3579876"/>
            <a:ext cx="4343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train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24912" y="362102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939796" y="3579876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test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79876" y="362102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9B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794760" y="3579876"/>
            <a:ext cx="4343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purge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03420" y="3621024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718304" y="3579876"/>
            <a:ext cx="57150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embargo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041648"/>
            <a:ext cx="5346039" cy="1956816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68096" y="4242816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What the two gaps do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" y="461521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50976" y="4572000"/>
            <a:ext cx="476082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 i="0">
                <a:solidFill>
                  <a:srgbClr val="191970"/>
                </a:solidFill>
                <a:latin typeface="Calibri"/>
              </a:rPr>
              <a:t>Purge: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drop training rows whose label window overlaps the test block.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" y="4990376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50976" y="4947158"/>
            <a:ext cx="476082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 i="0">
                <a:solidFill>
                  <a:srgbClr val="191970"/>
                </a:solidFill>
                <a:latin typeface="Calibri"/>
              </a:rPr>
              <a:t>Embargo: </a:t>
            </a:r>
            <a:r>
              <a:rPr sz="1150" b="0" i="0">
                <a:solidFill>
                  <a:srgbClr val="1A1A1A"/>
                </a:solidFill>
                <a:latin typeface="Calibri"/>
              </a:rPr>
              <a:t>drop training rows just after the test block, where serial correlation still carries test information.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78727" y="4041648"/>
            <a:ext cx="5346039" cy="1956816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79895" y="4242816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Set the widths from the data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11899" y="4615218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6662775" y="4572000"/>
            <a:ext cx="476082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Purge width = the label horizon (a 5-day forward return needs 5 days).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11899" y="4990376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662775" y="4947158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Embargo width ≈ the autocorrelation decay of the residual.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1899" y="5222405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62775" y="5179187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Quote the numbers in bars, not as “some gap”.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time splits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Time Splits — Grouped Date Blocks (Cross-Section)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split_grouped(s, x, y, w, groups=6) — whole dates move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64207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Split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1368" y="1572768"/>
            <a:ext cx="1637233" cy="38404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01368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8601" y="1572768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38601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5834" y="1572768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75834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13067" y="1572768"/>
            <a:ext cx="1637233" cy="38404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13067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50300" y="1572768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50300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87534" y="1572768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87534" y="1572768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19456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Split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01368" y="2103120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801368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8601" y="2103120"/>
            <a:ext cx="1637233" cy="38404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38601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5834" y="2103120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75834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13067" y="2103120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13067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50300" y="2103120"/>
            <a:ext cx="1637233" cy="384048"/>
          </a:xfrm>
          <a:prstGeom prst="rect">
            <a:avLst/>
          </a:prstGeom>
          <a:solidFill>
            <a:srgbClr val="B85042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350300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87534" y="2103120"/>
            <a:ext cx="1637233" cy="384048"/>
          </a:xfrm>
          <a:prstGeom prst="rect">
            <a:avLst/>
          </a:prstGeom>
          <a:solidFill>
            <a:srgbClr val="191970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987534" y="2103120"/>
            <a:ext cx="163723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01368" y="2834640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016252" y="2793492"/>
            <a:ext cx="845819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train dates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36392" y="2834640"/>
            <a:ext cx="132588" cy="132588"/>
          </a:xfrm>
          <a:prstGeom prst="roundRect">
            <a:avLst>
              <a:gd name="adj" fmla="val 25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351276" y="2793492"/>
            <a:ext cx="105156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A6472"/>
                </a:solidFill>
                <a:latin typeface="Calibri"/>
              </a:rPr>
              <a:t>held-out dates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383280"/>
            <a:ext cx="5346039" cy="1700784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8096" y="358444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The unit of analysis is the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0100" y="3956850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50976" y="3913632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One date contributes many rows — one per entity.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" y="4188879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50976" y="4145661"/>
            <a:ext cx="476082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If a date straddles the split, the cross-section is scored against itself.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" y="4564037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50976" y="4520819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Group by date first, then apply purge and embargo between blocks.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78727" y="3383280"/>
            <a:ext cx="5346039" cy="17007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79895" y="358444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Metrics that fit this shape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1899" y="3956850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662775" y="3913632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Daily rank IC, then the IC information ratio across dates.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11899" y="4188879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662775" y="4145661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Top-k minus bottom-k spread Sharpe.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1899" y="4420908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62775" y="4377690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Never a pooled R² — it hides which dates carried the result.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" y="5212079"/>
            <a:ext cx="11057839" cy="7863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68096" y="5413247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In this repo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" y="5742431"/>
            <a:ext cx="10655503" cy="54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purged_date_splits and GroupTimeSeriesSplit in rvlab.pipelines implement exactly this geometry.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time splits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Plot Holder — Hero Chart With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chart_with_readout(s, y, label, findings)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6727844" cy="3968496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566928" y="5394960"/>
            <a:ext cx="6727844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1426464"/>
            <a:ext cx="0" cy="3968496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3172968"/>
            <a:ext cx="67278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primary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447288"/>
            <a:ext cx="636208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pass image=fig('name.png') to drop the real figure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50804" y="1426464"/>
            <a:ext cx="4073962" cy="3968496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51972" y="1627632"/>
            <a:ext cx="36716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What it says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3976" y="2006257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34852" y="1956816"/>
            <a:ext cx="3488746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one-sentence claim this chart supports.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3976" y="2250732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934852" y="2201291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second-most important thing a viewer should notice.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3976" y="2650782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34852" y="2601341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caveat you would rather raise yourself than be asked about.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83976" y="3050832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34852" y="3001391"/>
            <a:ext cx="3488746" cy="366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If you cannot write these three lines, the chart is not ready.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77840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Default layout for analysis slides: evidence on the left, the claim it supports on the right.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plot 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C7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Plot Holder — Two-Up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plot_grid(s, x, y, w, h, ['A', 'B'], cols=2)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5428335" cy="288950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566928" y="4315968"/>
            <a:ext cx="5428335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1426464"/>
            <a:ext cx="0" cy="288950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633472"/>
            <a:ext cx="5428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907792"/>
            <a:ext cx="50625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what the current model does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426464"/>
            <a:ext cx="5428335" cy="288950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6196431" y="4315968"/>
            <a:ext cx="5428336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96431" y="1426464"/>
            <a:ext cx="0" cy="288950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96431" y="2633472"/>
            <a:ext cx="5428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candidate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9311" y="2907792"/>
            <a:ext cx="506257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what the change does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Rules for an honest 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" y="5145570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5102352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Same axes, same scale, same window — or say why not.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" y="5377599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976" y="5334381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Difference plotted directly beats two charts read side by side.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572000"/>
            <a:ext cx="5346039" cy="142646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79895" y="4773168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Good pairings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1899" y="5145570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62775" y="5102352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In-sample versus out-of-sample. Before versus after costs.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1899" y="5377599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62775" y="5334381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Model versus the naive baseline it has to beat.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plot holders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Plot Holder — Diagnostic Grid (Small Multiples)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plot_grid(s, x, y, w, h, [...], cols=2)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3548502" cy="192938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566928" y="3355848"/>
            <a:ext cx="354850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6928" y="1426464"/>
            <a:ext cx="0" cy="192938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153412"/>
            <a:ext cx="35485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residuals vs fitted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6598" y="1426464"/>
            <a:ext cx="3548502" cy="192938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4316598" y="3355848"/>
            <a:ext cx="3548503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16598" y="1426464"/>
            <a:ext cx="0" cy="192938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16598" y="2153412"/>
            <a:ext cx="35485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QQ /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557016"/>
            <a:ext cx="3548502" cy="192938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566928" y="5486400"/>
            <a:ext cx="3548502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" y="3557016"/>
            <a:ext cx="0" cy="192938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4283964"/>
            <a:ext cx="35485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residual autocorrelation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6598" y="3557016"/>
            <a:ext cx="3548502" cy="1929384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7" name="Connector 16"/>
          <p:cNvCxnSpPr/>
          <p:nvPr/>
        </p:nvCxnSpPr>
        <p:spPr>
          <a:xfrm>
            <a:off x="4316598" y="5486400"/>
            <a:ext cx="3548503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16598" y="3557016"/>
            <a:ext cx="0" cy="1929384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316598" y="4283964"/>
            <a:ext cx="35485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prediction vs actual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4285" y="1426464"/>
            <a:ext cx="3430481" cy="4059936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95453" y="1627632"/>
            <a:ext cx="302814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The four questions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27457" y="2003145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78333" y="1956816"/>
            <a:ext cx="2845265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Is the error structured where it should be noise?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7457" y="2390749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78333" y="2344420"/>
            <a:ext cx="2845265" cy="204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Are the tails what the model assumed?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27457" y="2629001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78333" y="2582672"/>
            <a:ext cx="2845265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Is there information left in the residual's own past?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27457" y="3016605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578333" y="2970276"/>
            <a:ext cx="2845265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Does the fit hold across the range, or only in the middle?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27457" y="3404209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578333" y="3357880"/>
            <a:ext cx="2845265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One panel per question. If a panel answers nothing, cut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plot holders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Plot Holder — Strategy Tearsheet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The standard backtest read-out: curve, drawdown, and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89888"/>
            <a:ext cx="2050633" cy="106070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76656" y="1572768"/>
            <a:ext cx="183117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191970"/>
                </a:solidFill>
                <a:latin typeface="Cambria"/>
              </a:rPr>
              <a:t>00.0%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11679"/>
            <a:ext cx="18311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Ann.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8729" y="1389888"/>
            <a:ext cx="2050633" cy="106070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28457" y="1572768"/>
            <a:ext cx="183117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191970"/>
                </a:solidFill>
                <a:latin typeface="Cambria"/>
              </a:rPr>
              <a:t>0.00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8457" y="2011679"/>
            <a:ext cx="18311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Sharpe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0530" y="1389888"/>
            <a:ext cx="2050633" cy="1060704"/>
          </a:xfrm>
          <a:prstGeom prst="roundRect">
            <a:avLst>
              <a:gd name="adj" fmla="val 70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80258" y="1572768"/>
            <a:ext cx="183117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B85042"/>
                </a:solidFill>
                <a:latin typeface="Cambria"/>
              </a:rPr>
              <a:t>−00%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0258" y="2011679"/>
            <a:ext cx="18311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Max drawdown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2332" y="1389888"/>
            <a:ext cx="2050633" cy="1060704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32060" y="1572768"/>
            <a:ext cx="183117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191970"/>
                </a:solidFill>
                <a:latin typeface="Cambria"/>
              </a:rPr>
              <a:t>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2060" y="2011679"/>
            <a:ext cx="18311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Turnover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74133" y="1389888"/>
            <a:ext cx="2050633" cy="1060704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83861" y="1572768"/>
            <a:ext cx="183117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01796F"/>
                </a:solidFill>
                <a:latin typeface="Cambria"/>
              </a:rPr>
              <a:t>0 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861" y="2011679"/>
            <a:ext cx="183117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Break-even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688336"/>
            <a:ext cx="11057839" cy="210312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566928" y="4791456"/>
            <a:ext cx="11057839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928" y="2688336"/>
            <a:ext cx="0" cy="210312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cumulative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776472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net of costs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01184"/>
            <a:ext cx="11057839" cy="1097280"/>
          </a:xfrm>
          <a:prstGeom prst="roundRect">
            <a:avLst>
              <a:gd name="adj" fmla="val 3000"/>
            </a:avLst>
          </a:prstGeom>
          <a:solidFill>
            <a:srgbClr val="F9EEEC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566928" y="5998464"/>
            <a:ext cx="11057839" cy="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6928" y="4901184"/>
            <a:ext cx="0" cy="1097280"/>
          </a:xfrm>
          <a:prstGeom prst="line">
            <a:avLst/>
          </a:prstGeom>
          <a:ln w="15875">
            <a:solidFill>
              <a:srgbClr val="D3D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" y="521208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486400"/>
            <a:ext cx="10692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1">
                <a:solidFill>
                  <a:srgbClr val="5A6472"/>
                </a:solidFill>
                <a:latin typeface="Calibri"/>
              </a:rPr>
              <a:t>same x-axis as the curve above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plot holders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Stat 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kpi_row(s, [(value, label), ...])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2613583" cy="13716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76656" y="1645920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91970"/>
                </a:solidFill>
                <a:latin typeface="Cambria"/>
              </a:rPr>
              <a:t>0.084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395728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Rank 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1679" y="1463040"/>
            <a:ext cx="2613583" cy="1371600"/>
          </a:xfrm>
          <a:prstGeom prst="roundRect">
            <a:avLst>
              <a:gd name="adj" fmla="val 70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91407" y="1645920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01796F"/>
                </a:solidFill>
                <a:latin typeface="Cambria"/>
              </a:rPr>
              <a:t>1.30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1407" y="2395728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Spread Sharpe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463040"/>
            <a:ext cx="2613583" cy="137160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06159" y="1645920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91970"/>
                </a:solidFill>
                <a:latin typeface="Cambria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6159" y="2395728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Sweep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1183" y="1463040"/>
            <a:ext cx="2613583" cy="1371600"/>
          </a:xfrm>
          <a:prstGeom prst="roundRect">
            <a:avLst>
              <a:gd name="adj" fmla="val 70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0911" y="1645920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B85042"/>
                </a:solidFill>
                <a:latin typeface="Cambria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0911" y="2395728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Cells that beat carry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54096"/>
            <a:ext cx="2613583" cy="1188720"/>
          </a:xfrm>
          <a:prstGeom prst="roundRect">
            <a:avLst>
              <a:gd name="adj" fmla="val 70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6656" y="3236976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B85042"/>
                </a:solidFill>
                <a:latin typeface="Cambria"/>
              </a:rPr>
              <a:t>+0.21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803904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Fitted skew exponent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1679" y="3054096"/>
            <a:ext cx="2613583" cy="1188720"/>
          </a:xfrm>
          <a:prstGeom prst="roundRect">
            <a:avLst>
              <a:gd name="adj" fmla="val 7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91407" y="3236976"/>
            <a:ext cx="23941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91970"/>
                </a:solidFill>
                <a:latin typeface="Cambria"/>
              </a:rPr>
              <a:t>−0.40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1407" y="3803904"/>
            <a:ext cx="2394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1050" b="0" i="0">
                <a:solidFill>
                  <a:srgbClr val="5A6472"/>
                </a:solidFill>
                <a:latin typeface="Calibri"/>
              </a:rPr>
              <a:t>Implied by H = 0.10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6431" y="3054096"/>
            <a:ext cx="5428335" cy="1188720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97599" y="3255264"/>
            <a:ext cx="5025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Pair the number with its comparison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29603" y="3627666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0479" y="3584448"/>
            <a:ext cx="4843119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 statistic alone invites “compared to what?”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603" y="3859695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0479" y="3816477"/>
            <a:ext cx="4843119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Put the benchmark in the label, or in the tile beside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29200"/>
            <a:ext cx="11057839" cy="969264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8096" y="5230368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Use tiles for the numbers you want quoted 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559552"/>
            <a:ext cx="106555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Three to five per slide. Past five they stop being headlines and become a table — at which point use a table, where the reader can compare columns.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Claim → Test →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verdict_block(s, x, y, w, claim, test, verdict, passed=False)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63040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664208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993392"/>
            <a:ext cx="313730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Volatility is rough, so the skew exponent should be near −0.40 with H = 0.10.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6026" y="1463040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27194" y="1664208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How it was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7194" y="1993392"/>
            <a:ext cx="313730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Fit the term structure of ATM skew on the panel; compare the exponent against the prior.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5124" y="1463040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6292" y="1664208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Verdict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292" y="1993392"/>
            <a:ext cx="313730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Rejected. The fitted exponent is +0.21 — the wrong sign, not merely the wrong size.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47718" y="2313432"/>
            <a:ext cx="137160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6816" y="2313432"/>
            <a:ext cx="137160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3456432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3657600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986784"/>
            <a:ext cx="3137306" cy="969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A planted short-term reversal should be recoverable by a linear model.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6026" y="3456432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27194" y="3657600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How it was 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7194" y="3986784"/>
            <a:ext cx="3137306" cy="969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Ridge on purged date splits, scored by daily rank IC against a naive reversal baseline.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5124" y="3456432"/>
            <a:ext cx="3539642" cy="1700784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86292" y="3657600"/>
            <a:ext cx="31373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292" y="3986784"/>
            <a:ext cx="3137306" cy="9692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Confirmed. Rank IC 0.084, spread Sharpe 1.30, beating the baseline.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47718" y="4306824"/>
            <a:ext cx="137160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06816" y="4306824"/>
            <a:ext cx="137160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6928" y="5285231"/>
            <a:ext cx="11057839" cy="713232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68096" y="5486399"/>
            <a:ext cx="106555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negative verdict presented cleanly is worth more than a positive one presented vaguely.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compare(s, x, y, w, h, left, right)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26464"/>
            <a:ext cx="5391759" cy="2688336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627632"/>
            <a:ext cx="4989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Before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2006257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50976" y="1956816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behaviour, stated plainly enough to be recognisable.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" y="2250732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201291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specific failure it caused.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" y="2495207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445766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What it cost — in time, in PnL, or in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426464"/>
            <a:ext cx="5391759" cy="2688336"/>
          </a:xfrm>
          <a:prstGeom prst="roundRect">
            <a:avLst>
              <a:gd name="adj" fmla="val 5500"/>
            </a:avLst>
          </a:prstGeom>
          <a:solidFill>
            <a:srgbClr val="E4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34175" y="1627632"/>
            <a:ext cx="49894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796F"/>
                </a:solidFill>
                <a:latin typeface="Cambria"/>
              </a:rPr>
              <a:t>After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6179" y="2006257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17055" y="1956816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change, in the same terms as the left column.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6179" y="2250732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17055" y="2201291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failure it removes.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6179" y="2495207"/>
            <a:ext cx="56692" cy="5669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17055" y="2445766"/>
            <a:ext cx="4806543" cy="210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The new cost it introduces — there is always one.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66928" y="4443984"/>
          <a:ext cx="11057838" cy="14813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59665"/>
                <a:gridCol w="729817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Keep the columns parallel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Same number of rows, same order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The reader compares by position; ragged columns break that.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Name the new cost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 change with no downside reads as a sales pitch, not an analysis.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flow_row(s, x, y, w, h, steps)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9224" y="1581912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Raw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2013874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provenance, schema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35265" y="1993392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5305" y="1481328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937601" y="1581912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7601" y="2013874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leak-free lags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3642" y="1993392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43682" y="1481328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25978" y="1581912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5978" y="2013874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fit on train 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12020" y="1993392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2060" y="1481328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514356" y="1581912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4356" y="2013874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purged splits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00397" y="1993392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20437" y="1481328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EF1F8"/>
          </a:solidFill>
          <a:ln w="15875">
            <a:solidFill>
              <a:srgbClr val="191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02733" y="1581912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191970"/>
                </a:solidFill>
                <a:latin typeface="Cambria"/>
              </a:rPr>
              <a:t>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733" y="2013874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promote or reject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2889504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" y="2990088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422050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one loader, one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35265" y="3401568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55305" y="2889504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937601" y="2990088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7601" y="3422050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nulls, dupes, drift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23642" y="3401568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43682" y="2889504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25978" y="2990088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25978" y="3422050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before anything is fitted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12020" y="3401568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432060" y="2889504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4356" y="2990088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4356" y="3422050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inside the fold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400397" y="3401568"/>
            <a:ext cx="256032" cy="0"/>
          </a:xfrm>
          <a:prstGeom prst="line">
            <a:avLst/>
          </a:prstGeom>
          <a:ln w="19050">
            <a:solidFill>
              <a:srgbClr val="5A647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720437" y="2889504"/>
            <a:ext cx="1904329" cy="1024128"/>
          </a:xfrm>
          <a:prstGeom prst="roundRect">
            <a:avLst>
              <a:gd name="adj" fmla="val 9000"/>
            </a:avLst>
          </a:prstGeom>
          <a:solidFill>
            <a:srgbClr val="E4F0EE"/>
          </a:solidFill>
          <a:ln w="15875">
            <a:solidFill>
              <a:srgbClr val="0179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802733" y="2990088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1150" b="1" i="0">
                <a:solidFill>
                  <a:srgbClr val="01796F"/>
                </a:solidFill>
                <a:latin typeface="Cambria"/>
              </a:rPr>
              <a:t>Report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733" y="3422050"/>
            <a:ext cx="1739737" cy="450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4000"/>
              </a:lnSpc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with an interval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809744"/>
            <a:ext cx="11057839" cy="1188720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8096" y="5010912"/>
            <a:ext cx="106555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The ordering claim you are making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340096"/>
            <a:ext cx="106555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 pipeline diagram is an argument that nothing downstream touched anything upstream. The split box belongs before the fit box — if it is drawn after, an interviewer will ask why, and they will be right to.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Numbered Method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numbered_steps(s, x, y, w, [(head, detail), ...])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447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1444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431036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91970"/>
                </a:solidFill>
                <a:latin typeface="Cambria"/>
              </a:rPr>
              <a:t>State the estimand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677924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What number would settle the question, and in what units?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1401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00300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91970"/>
                </a:solidFill>
                <a:latin typeface="Cambria"/>
              </a:rPr>
              <a:t>Fix the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47188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Decide the geometry before looking at any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832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6928" y="33832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369564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91970"/>
                </a:solidFill>
                <a:latin typeface="Cambria"/>
              </a:rPr>
              <a:t>Build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616452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Every lag and rolling window closed at t or earlier.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525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338828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91970"/>
                </a:solidFill>
                <a:latin typeface="Cambria"/>
              </a:rPr>
              <a:t>Fit and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585716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Inside the fold. One metric, chosen in advance.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14447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24447" y="144475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6511" y="1431036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1796F"/>
                </a:solidFill>
                <a:latin typeface="Cambria"/>
              </a:rPr>
              <a:t>Attribute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511" y="1677924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Which rows, dates, or features carried the result?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2414016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24447" y="24140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6511" y="2400300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1796F"/>
                </a:solidFill>
                <a:latin typeface="Cambria"/>
              </a:rPr>
              <a:t>Stress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6511" y="2647188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Costs, regimes, seeds, and one deliberately hostile subsample.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7" y="33832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24447" y="338328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6511" y="3369564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1796F"/>
                </a:solidFill>
                <a:latin typeface="Cambria"/>
              </a:rPr>
              <a:t>Report the interval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6511" y="3616452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A point estimate with no interval is an anecdote.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7" y="4352544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24447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6511" y="4338828"/>
            <a:ext cx="4788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1796F"/>
                </a:solidFill>
                <a:latin typeface="Cambria"/>
              </a:rPr>
              <a:t>Say what would change your mind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6511" y="4585716"/>
            <a:ext cx="4788255" cy="224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Calibri"/>
              </a:rPr>
              <a:t>The sentence that separates research from advocacy.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Model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table(s, x, y, w, rows, highlight=2)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444752"/>
          <a:ext cx="110578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75038"/>
                <a:gridCol w="1990411"/>
                <a:gridCol w="1990411"/>
                <a:gridCol w="1769254"/>
                <a:gridCol w="2432724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OOS metric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vs baseline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Turnover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Baseline (carry)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Candidate A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promoted</a:t>
                      </a:r>
                    </a:p>
                  </a:txBody>
                  <a:tcPr marL="91440" marR="91440" marT="32004" marB="32004" anchor="ctr">
                    <a:solidFill>
                      <a:srgbClr val="E4F0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Candidate B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Candidate C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needs more data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6928" y="4224527"/>
            <a:ext cx="5346039" cy="1773936"/>
          </a:xfrm>
          <a:prstGeom prst="roundRect">
            <a:avLst>
              <a:gd name="adj" fmla="val 55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8096" y="4425695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91970"/>
                </a:solidFill>
                <a:latin typeface="Cambria"/>
              </a:rPr>
              <a:t>Column order is an argument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" y="4798098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50976" y="4754879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Baseline first, so every later row is read as a difference.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" y="5030127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50976" y="4986908"/>
            <a:ext cx="476082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Cost or turnover before the verdict — it is usually why the verdict went the way it did.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5405285"/>
            <a:ext cx="56692" cy="56692"/>
          </a:xfrm>
          <a:prstGeom prst="roundRect">
            <a:avLst>
              <a:gd name="adj" fmla="val 50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5362067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Tint the row you want remembered; leave the others plain.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224527"/>
            <a:ext cx="5346039" cy="1773936"/>
          </a:xfrm>
          <a:prstGeom prst="roundRect">
            <a:avLst>
              <a:gd name="adj" fmla="val 5500"/>
            </a:avLst>
          </a:prstGeom>
          <a:solidFill>
            <a:srgbClr val="F9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9895" y="4425695"/>
            <a:ext cx="494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B85042"/>
                </a:solidFill>
                <a:latin typeface="Cambria"/>
              </a:rPr>
              <a:t>What gets asked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1899" y="4798098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62775" y="4754879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“What is the baseline, exactly?” Have the definition 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1899" y="5030127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62775" y="4986908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“Is that difference inside the noise?” Have the interval ready.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1899" y="5262156"/>
            <a:ext cx="56692" cy="56692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662775" y="5218938"/>
            <a:ext cx="476082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“How many models did you try?” Have the honest count ready.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 i="0">
                <a:solidFill>
                  <a:srgbClr val="191970"/>
                </a:solidFill>
                <a:latin typeface="Cambria"/>
              </a:rPr>
              <a:t>Palette And Type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1">
                <a:solidFill>
                  <a:srgbClr val="5A6472"/>
                </a:solidFill>
                <a:latin typeface="Calibri"/>
              </a:rPr>
              <a:t>Change these six values in slidekit.py and the deck re-skins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191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6928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NAVY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191970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6477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0179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46477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PINE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6477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01796F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26026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CLAY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6026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B85042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575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0F1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05575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0F1633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5124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85124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5124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5A6472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4674" y="1444752"/>
            <a:ext cx="1660093" cy="822960"/>
          </a:xfrm>
          <a:prstGeom prst="roundRect">
            <a:avLst>
              <a:gd name="adj" fmla="val 6000"/>
            </a:avLst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64674" y="2340864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4674" y="2560320"/>
            <a:ext cx="166009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ourier New"/>
              </a:rPr>
              <a:t>D3DAE6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6928" y="3054096"/>
          <a:ext cx="6192388" cy="2432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4651"/>
                <a:gridCol w="1981564"/>
                <a:gridCol w="1486173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Font</a:t>
                      </a:r>
                    </a:p>
                  </a:txBody>
                  <a:tcPr marL="91440" marR="91440" marT="32004" marB="32004" anchor="ctr">
                    <a:solidFill>
                      <a:srgbClr val="19197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Slide title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29 pt bold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Cambria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Standfirst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13.5 pt italic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Calibri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Card header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13 pt bold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Cambria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Body / bullets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12.5 pt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Calibri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Stat tile value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30 pt bold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Cambria</a:t>
                      </a:r>
                    </a:p>
                  </a:txBody>
                  <a:tcPr marL="91440" marR="91440" marT="32004" marB="3200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Caption / footer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10.5 / 9.5 pt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Calibri</a:t>
                      </a:r>
                    </a:p>
                  </a:txBody>
                  <a:tcPr marL="91440" marR="91440" marT="32004" marB="32004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125077" y="3054096"/>
            <a:ext cx="4499689" cy="2432304"/>
          </a:xfrm>
          <a:prstGeom prst="roundRect">
            <a:avLst>
              <a:gd name="adj" fmla="val 5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326245" y="3255264"/>
            <a:ext cx="409735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A6472"/>
                </a:solidFill>
                <a:latin typeface="Cambria"/>
              </a:rPr>
              <a:t>Why these two fonts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8249" y="3627666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09125" y="3584448"/>
            <a:ext cx="3914473" cy="1979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Both ship with Office, on Windows and macOS.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8249" y="3859695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09125" y="3816477"/>
            <a:ext cx="391447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Both have metric-compatible substitutes on Linux, so a PDF rendered anywhere keeps its line breaks.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8249" y="4234853"/>
            <a:ext cx="56692" cy="56692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09125" y="4191635"/>
            <a:ext cx="3914473" cy="341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Calibri"/>
              </a:rPr>
              <a:t>Serif headings, sans body — contrast without a third typeface.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55664"/>
            <a:ext cx="7740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Component Library ·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7415" y="6455664"/>
            <a:ext cx="331735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5A6472"/>
                </a:solidFill>
                <a:latin typeface="Calibri"/>
              </a:rPr>
              <a:t>C17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87168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Component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474720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B9C4E0"/>
                </a:solidFill>
                <a:latin typeface="Calibri"/>
              </a:rPr>
              <a:t>Copy a slide. Change the words. Keep the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0416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8C98B8"/>
                </a:solidFill>
                <a:latin typeface="Courier New"/>
              </a:rPr>
              <a:t>slidekit.py  ·  build_deck.py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