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c2ba844534f07" /><Relationship Type="http://schemas.openxmlformats.org/officeDocument/2006/relationships/extended-properties" Target="/docProps/app.xml" Id="R51870e1f005f444f" /><Relationship Type="http://schemas.openxmlformats.org/officeDocument/2006/relationships/officeDocument" Target="/ppt/presentation.xml" Id="R8b65de2943f1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2594893b6b41d3"/>
  </p:sldMasterIdLst>
  <p:notesMasterIdLst>
    <p:notesMasterId xmlns:r="http://schemas.openxmlformats.org/officeDocument/2006/relationships" r:id="R5171a73f1f844cdb"/>
  </p:notesMasterIdLst>
  <p:sldIdLst>
    <p:sldId xmlns:r="http://schemas.openxmlformats.org/officeDocument/2006/relationships" id="256" r:id="Rfb0d49a734b34ba3"/>
    <p:sldId xmlns:r="http://schemas.openxmlformats.org/officeDocument/2006/relationships" id="257" r:id="Ra66e372b81c64b19"/>
    <p:sldId xmlns:r="http://schemas.openxmlformats.org/officeDocument/2006/relationships" id="258" r:id="R7d14e487838b43ac"/>
    <p:sldId xmlns:r="http://schemas.openxmlformats.org/officeDocument/2006/relationships" id="259" r:id="Rd8653fd0af344444"/>
    <p:sldId xmlns:r="http://schemas.openxmlformats.org/officeDocument/2006/relationships" id="260" r:id="Re28e6163819646cd"/>
    <p:sldId xmlns:r="http://schemas.openxmlformats.org/officeDocument/2006/relationships" id="261" r:id="R8b9658c1f3ef4de3"/>
    <p:sldId xmlns:r="http://schemas.openxmlformats.org/officeDocument/2006/relationships" id="262" r:id="R183506d6d2d540c6"/>
    <p:sldId xmlns:r="http://schemas.openxmlformats.org/officeDocument/2006/relationships" id="263" r:id="Rf59e3de3ea98487c"/>
    <p:sldId xmlns:r="http://schemas.openxmlformats.org/officeDocument/2006/relationships" id="264" r:id="R276a5ff4fa594dd1"/>
    <p:sldId xmlns:r="http://schemas.openxmlformats.org/officeDocument/2006/relationships" id="265" r:id="Ra74fd8efeaaa4a76"/>
    <p:sldId xmlns:r="http://schemas.openxmlformats.org/officeDocument/2006/relationships" id="266" r:id="R3c8e085b209b42a0"/>
    <p:sldId xmlns:r="http://schemas.openxmlformats.org/officeDocument/2006/relationships" id="267" r:id="R5a1016a618cd4bb1"/>
    <p:sldId xmlns:r="http://schemas.openxmlformats.org/officeDocument/2006/relationships" id="268" r:id="Rb30be09b34464804"/>
    <p:sldId xmlns:r="http://schemas.openxmlformats.org/officeDocument/2006/relationships" id="269" r:id="R1af484b7c0b441e5"/>
    <p:sldId xmlns:r="http://schemas.openxmlformats.org/officeDocument/2006/relationships" id="270" r:id="Rce099bbb406442e9"/>
    <p:sldId xmlns:r="http://schemas.openxmlformats.org/officeDocument/2006/relationships" id="271" r:id="Rd1d0a334e08a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d97e2def9436c" /><Relationship Type="http://schemas.openxmlformats.org/officeDocument/2006/relationships/slideMaster" Target="/ppt/slideMasters/slideMaster1.xml" Id="Rca2594893b6b41d3" /><Relationship Type="http://schemas.openxmlformats.org/officeDocument/2006/relationships/notesMaster" Target="/ppt/notesMasters/notesMaster1.xml" Id="R5171a73f1f844cdb" /><Relationship Type="http://schemas.openxmlformats.org/officeDocument/2006/relationships/presProps" Target="/ppt/presProps.xml" Id="Rc9379c9643874642" /><Relationship Type="http://schemas.openxmlformats.org/officeDocument/2006/relationships/tableStyles" Target="/ppt/tableStyles.xml" Id="Rc8c67b0c43f04cc0" /><Relationship Type="http://schemas.openxmlformats.org/officeDocument/2006/relationships/slide" Target="/ppt/slides/slide1.xml" Id="Rfb0d49a734b34ba3" /><Relationship Type="http://schemas.openxmlformats.org/officeDocument/2006/relationships/slide" Target="/ppt/slides/slide2.xml" Id="Ra66e372b81c64b19" /><Relationship Type="http://schemas.openxmlformats.org/officeDocument/2006/relationships/slide" Target="/ppt/slides/slide3.xml" Id="R7d14e487838b43ac" /><Relationship Type="http://schemas.openxmlformats.org/officeDocument/2006/relationships/slide" Target="/ppt/slides/slide4.xml" Id="Rd8653fd0af344444" /><Relationship Type="http://schemas.openxmlformats.org/officeDocument/2006/relationships/slide" Target="/ppt/slides/slide5.xml" Id="Re28e6163819646cd" /><Relationship Type="http://schemas.openxmlformats.org/officeDocument/2006/relationships/slide" Target="/ppt/slides/slide6.xml" Id="R8b9658c1f3ef4de3" /><Relationship Type="http://schemas.openxmlformats.org/officeDocument/2006/relationships/slide" Target="/ppt/slides/slide7.xml" Id="R183506d6d2d540c6" /><Relationship Type="http://schemas.openxmlformats.org/officeDocument/2006/relationships/slide" Target="/ppt/slides/slide8.xml" Id="Rf59e3de3ea98487c" /><Relationship Type="http://schemas.openxmlformats.org/officeDocument/2006/relationships/slide" Target="/ppt/slides/slide9.xml" Id="R276a5ff4fa594dd1" /><Relationship Type="http://schemas.openxmlformats.org/officeDocument/2006/relationships/slide" Target="/ppt/slides/slide10.xml" Id="Ra74fd8efeaaa4a76" /><Relationship Type="http://schemas.openxmlformats.org/officeDocument/2006/relationships/slide" Target="/ppt/slides/slide11.xml" Id="R3c8e085b209b42a0" /><Relationship Type="http://schemas.openxmlformats.org/officeDocument/2006/relationships/slide" Target="/ppt/slides/slide12.xml" Id="R5a1016a618cd4bb1" /><Relationship Type="http://schemas.openxmlformats.org/officeDocument/2006/relationships/slide" Target="/ppt/slides/slide13.xml" Id="Rb30be09b34464804" /><Relationship Type="http://schemas.openxmlformats.org/officeDocument/2006/relationships/slide" Target="/ppt/slides/slide14.xml" Id="R1af484b7c0b441e5" /><Relationship Type="http://schemas.openxmlformats.org/officeDocument/2006/relationships/slide" Target="/ppt/slides/slide15.xml" Id="Rce099bbb406442e9" /><Relationship Type="http://schemas.openxmlformats.org/officeDocument/2006/relationships/slide" Target="/ppt/slides/slide16.xml" Id="Rd1d0a334e08a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708c3ad7e46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olatility Research">
      <a:dk1>
        <a:srgbClr val="000000"/>
      </a:dk1>
      <a:lt1>
        <a:srgbClr val="FFFFFF"/>
      </a:lt1>
      <a:dk2>
        <a:srgbClr val="102638"/>
      </a:dk2>
      <a:lt2>
        <a:srgbClr val="E4EAED"/>
      </a:lt2>
      <a:accent1>
        <a:srgbClr val="00A7A0"/>
      </a:accent1>
      <a:accent2>
        <a:srgbClr val="517EA5"/>
      </a:accent2>
      <a:accent3>
        <a:srgbClr val="E8A12E"/>
      </a:accent3>
      <a:accent4>
        <a:srgbClr val="D86055"/>
      </a:accent4>
      <a:accent5>
        <a:srgbClr val="7667A8"/>
      </a:accent5>
      <a:accent6>
        <a:srgbClr val="087D79"/>
      </a:accent6>
      <a:hlink>
        <a:srgbClr val="517EA5"/>
      </a:hlink>
      <a:folHlink>
        <a:srgbClr val="7667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latilit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2f6d18cdfb4195" /><Relationship Type="http://schemas.openxmlformats.org/officeDocument/2006/relationships/notesMaster" Target="/ppt/notesMasters/notesMaster1.xml" Id="R8bbc9c507d4448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623865500d463c" /><Relationship Type="http://schemas.openxmlformats.org/officeDocument/2006/relationships/notesMaster" Target="/ppt/notesMasters/notesMaster1.xml" Id="Rbbe7de270592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05ab50027142a6" /><Relationship Type="http://schemas.openxmlformats.org/officeDocument/2006/relationships/notesMaster" Target="/ppt/notesMasters/notesMaster1.xml" Id="R4eaa9bfef31945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70bd3d34b743dd" /><Relationship Type="http://schemas.openxmlformats.org/officeDocument/2006/relationships/notesMaster" Target="/ppt/notesMasters/notesMaster1.xml" Id="R11c3e43304db47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efcb7ec61463e" /><Relationship Type="http://schemas.openxmlformats.org/officeDocument/2006/relationships/notesMaster" Target="/ppt/notesMasters/notesMaster1.xml" Id="R95d280a1632d4c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beca5191c14a61" /><Relationship Type="http://schemas.openxmlformats.org/officeDocument/2006/relationships/notesMaster" Target="/ppt/notesMasters/notesMaster1.xml" Id="R76d1edbe3f8b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d5fb13ee84b71" /><Relationship Type="http://schemas.openxmlformats.org/officeDocument/2006/relationships/notesMaster" Target="/ppt/notesMasters/notesMaster1.xml" Id="R2062f8447c9247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c831f1aa7a45de" /><Relationship Type="http://schemas.openxmlformats.org/officeDocument/2006/relationships/notesMaster" Target="/ppt/notesMasters/notesMaster1.xml" Id="R8cffda51a68f4f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8fb8c45cb941b7" /><Relationship Type="http://schemas.openxmlformats.org/officeDocument/2006/relationships/notesMaster" Target="/ppt/notesMasters/notesMaster1.xml" Id="Rdd29012ca25743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c67aee06434d3c" /><Relationship Type="http://schemas.openxmlformats.org/officeDocument/2006/relationships/notesMaster" Target="/ppt/notesMasters/notesMaster1.xml" Id="Rfc48909440ca49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fd05ac05b64590" /><Relationship Type="http://schemas.openxmlformats.org/officeDocument/2006/relationships/notesMaster" Target="/ppt/notesMasters/notesMaster1.xml" Id="R9db9b231122e40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90f80f01594fb2" /><Relationship Type="http://schemas.openxmlformats.org/officeDocument/2006/relationships/notesMaster" Target="/ppt/notesMasters/notesMaster1.xml" Id="R9a773fbe541643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fc542175b064503" /><Relationship Type="http://schemas.openxmlformats.org/officeDocument/2006/relationships/notesMaster" Target="/ppt/notesMasters/notesMaster1.xml" Id="Rb733a425c20e47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64bd53e3144d98" /><Relationship Type="http://schemas.openxmlformats.org/officeDocument/2006/relationships/notesMaster" Target="/ppt/notesMasters/notesMaster1.xml" Id="R98fb6c0cc66241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07d0ea32cc41c9" /><Relationship Type="http://schemas.openxmlformats.org/officeDocument/2006/relationships/notesMaster" Target="/ppt/notesMasters/notesMaster1.xml" Id="R659dc33499434e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7192acf1b54b40" /><Relationship Type="http://schemas.openxmlformats.org/officeDocument/2006/relationships/notesMaster" Target="/ppt/notesMasters/notesMaster1.xml" Id="Rbccae0c2006f4b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Cover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Input shapes and panel scope are taken directly from the executed demo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The raw health report found 34 missing train volume values and seven infinite option-skew values in future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The chart rebuilds the top standardized train-to-future mean shifts from the stored drift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Training dates after the one-date purge are 25, 49, 73 and 97. Each validation block contains 24 dates and 672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All six candidates use the same 2,688 OOF rows. Selection is locked to pooled OOF RMSE.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High-regime MAE is 0.008943 versus 0.004715 in the low regime. Worst-date RMSE is 0.022426 and p95 absolute error is 0.018151.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volatility_project_04_complete_panel_pipeline.ipynb, stored executed outputs. All numerical results use generated demonstration data. The sealed report is evaluated once after model selection. Final predictions pass row-order, schema, uniqueness, finiteness and positivity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section divider with title, context, and optional supporting-object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title, subtitle, three KPI placeholders, and a wide executive-summary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two-column comparison with editable column labels, picture, and evidence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primary chart placeholder with a dedicated insight or annotation sidebar.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wide chart placeholder followed by three editable annotation blocks.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four-quadrant dashboard with picture, chart, table, and commentary placeholders.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dominant editable table placeholder with a supporting commentary or decision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layout: closing title, logo, key takeaway, three next-step placeholders, and owner/contact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67795cba241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8bd7c3acc4d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30f1d10db41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17287809048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44d4fe9194e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6a49ed70a412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7eec54ded495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60397aa3941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64e2deb5a47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VR 01 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1 Section Divider title 0">
            <a:extLst xmlns:a="http://schemas.openxmlformats.org/drawingml/2006/main">
              <a:ext uri="{FF2B5EF4-FFF2-40B4-BE49-F238E27FC236}">
                <a16:creationId xmlns:a16="http://schemas.microsoft.com/office/drawing/2014/main" id="{E5F99D63-CCDF-4E0A-ACE9-C85B19994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900" y="1571625"/>
            <a:ext cx="9620250" cy="1257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1 Section Divider subtitle 1">
            <a:extLst xmlns:a="http://schemas.openxmlformats.org/drawingml/2006/main">
              <a:ext uri="{FF2B5EF4-FFF2-40B4-BE49-F238E27FC236}">
                <a16:creationId xmlns:a16="http://schemas.microsoft.com/office/drawing/2014/main" id="{E3A10209-507B-403D-A290-861BCD058F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900" y="685800"/>
            <a:ext cx="4953000" cy="266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1 Section Divider body 2">
            <a:extLst xmlns:a="http://schemas.openxmlformats.org/drawingml/2006/main">
              <a:ext uri="{FF2B5EF4-FFF2-40B4-BE49-F238E27FC236}">
                <a16:creationId xmlns:a16="http://schemas.microsoft.com/office/drawing/2014/main" id="{B85FED93-7557-41F5-85F9-72FBB333E1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3900" y="3105150"/>
            <a:ext cx="8191500" cy="590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1 Section Divider content 3">
            <a:extLst xmlns:a="http://schemas.openxmlformats.org/drawingml/2006/main">
              <a:ext uri="{FF2B5EF4-FFF2-40B4-BE49-F238E27FC236}">
                <a16:creationId xmlns:a16="http://schemas.microsoft.com/office/drawing/2014/main" id="{FA43F72B-A021-4919-87FD-D1FBA8635529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23900" y="4933950"/>
            <a:ext cx="590550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VR 02 Executive Summ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2 Executive Summary title 0">
            <a:extLst xmlns:a="http://schemas.openxmlformats.org/drawingml/2006/main">
              <a:ext uri="{FF2B5EF4-FFF2-40B4-BE49-F238E27FC236}">
                <a16:creationId xmlns:a16="http://schemas.microsoft.com/office/drawing/2014/main" id="{DA78BBA7-FD33-480C-B4A4-7D8D05CD10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2 Executive Summary subtitle 1">
            <a:extLst xmlns:a="http://schemas.openxmlformats.org/drawingml/2006/main">
              <a:ext uri="{FF2B5EF4-FFF2-40B4-BE49-F238E27FC236}">
                <a16:creationId xmlns:a16="http://schemas.microsoft.com/office/drawing/2014/main" id="{FCAF9F5F-29CE-4CA8-BC7E-CED936F7E9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2 Executive Summary body 2">
            <a:extLst xmlns:a="http://schemas.openxmlformats.org/drawingml/2006/main">
              <a:ext uri="{FF2B5EF4-FFF2-40B4-BE49-F238E27FC236}">
                <a16:creationId xmlns:a16="http://schemas.microsoft.com/office/drawing/2014/main" id="{AA7BEA77-B51A-4E1D-8D68-FA1A759F0A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2 Executive Summary content 3">
            <a:extLst xmlns:a="http://schemas.openxmlformats.org/drawingml/2006/main">
              <a:ext uri="{FF2B5EF4-FFF2-40B4-BE49-F238E27FC236}">
                <a16:creationId xmlns:a16="http://schemas.microsoft.com/office/drawing/2014/main" id="{98761AFC-8667-40CC-A6EC-7D8A33E4A815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609600" y="1752600"/>
            <a:ext cx="333375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2 Executive Summary content 4">
            <a:extLst xmlns:a="http://schemas.openxmlformats.org/drawingml/2006/main">
              <a:ext uri="{FF2B5EF4-FFF2-40B4-BE49-F238E27FC236}">
                <a16:creationId xmlns:a16="http://schemas.microsoft.com/office/drawing/2014/main" id="{ED0FDA33-7FDA-4F0C-AB24-077FB9BA5FC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295775" y="1752600"/>
            <a:ext cx="333375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VR 02 Executive Summary content 5">
            <a:extLst xmlns:a="http://schemas.openxmlformats.org/drawingml/2006/main">
              <a:ext uri="{FF2B5EF4-FFF2-40B4-BE49-F238E27FC236}">
                <a16:creationId xmlns:a16="http://schemas.microsoft.com/office/drawing/2014/main" id="{AB389998-455F-45A3-8A2F-6F9375252BD8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7981950" y="1752600"/>
            <a:ext cx="333375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R 02 Executive Summary body 6">
            <a:extLst xmlns:a="http://schemas.openxmlformats.org/drawingml/2006/main">
              <a:ext uri="{FF2B5EF4-FFF2-40B4-BE49-F238E27FC236}">
                <a16:creationId xmlns:a16="http://schemas.microsoft.com/office/drawing/2014/main" id="{01A8978F-B4EA-4EC9-BB39-7298836454EB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09600" y="3257550"/>
            <a:ext cx="10706100" cy="2667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VR 03 Two-Column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3 Two-Column Comparison title 0">
            <a:extLst xmlns:a="http://schemas.openxmlformats.org/drawingml/2006/main">
              <a:ext uri="{FF2B5EF4-FFF2-40B4-BE49-F238E27FC236}">
                <a16:creationId xmlns:a16="http://schemas.microsoft.com/office/drawing/2014/main" id="{C99AB4A8-053A-458D-98C4-0C5876865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3 Two-Column Comparison subtitle 1">
            <a:extLst xmlns:a="http://schemas.openxmlformats.org/drawingml/2006/main">
              <a:ext uri="{FF2B5EF4-FFF2-40B4-BE49-F238E27FC236}">
                <a16:creationId xmlns:a16="http://schemas.microsoft.com/office/drawing/2014/main" id="{C241AC65-2066-4AC7-AEF5-1610315619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3 Two-Column Comparison body 2">
            <a:extLst xmlns:a="http://schemas.openxmlformats.org/drawingml/2006/main">
              <a:ext uri="{FF2B5EF4-FFF2-40B4-BE49-F238E27FC236}">
                <a16:creationId xmlns:a16="http://schemas.microsoft.com/office/drawing/2014/main" id="{BA4CDB8D-FA26-4E70-9B7D-28445326B6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3 Two-Column Comparison subtitle 3">
            <a:extLst xmlns:a="http://schemas.openxmlformats.org/drawingml/2006/main">
              <a:ext uri="{FF2B5EF4-FFF2-40B4-BE49-F238E27FC236}">
                <a16:creationId xmlns:a16="http://schemas.microsoft.com/office/drawing/2014/main" id="{F588857B-FFEC-4404-9ECF-717DD5F9ACA8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609600" y="1657350"/>
            <a:ext cx="5143500" cy="2476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3 Two-Column Comparison subtitle 4">
            <a:extLst xmlns:a="http://schemas.openxmlformats.org/drawingml/2006/main">
              <a:ext uri="{FF2B5EF4-FFF2-40B4-BE49-F238E27FC236}">
                <a16:creationId xmlns:a16="http://schemas.microsoft.com/office/drawing/2014/main" id="{CBD8C22F-C566-4339-91E8-612C73FC1DD4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6438900" y="1657350"/>
            <a:ext cx="5143500" cy="2476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VR 03 Two-Column Comparison picture 5">
            <a:extLst xmlns:a="http://schemas.openxmlformats.org/drawingml/2006/main">
              <a:ext uri="{FF2B5EF4-FFF2-40B4-BE49-F238E27FC236}">
                <a16:creationId xmlns:a16="http://schemas.microsoft.com/office/drawing/2014/main" id="{E5B507C8-ED3C-4F65-B5E4-FF7379DA593F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609600" y="2009775"/>
            <a:ext cx="5143500" cy="3829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R 03 Two-Column Comparison body 6">
            <a:extLst xmlns:a="http://schemas.openxmlformats.org/drawingml/2006/main">
              <a:ext uri="{FF2B5EF4-FFF2-40B4-BE49-F238E27FC236}">
                <a16:creationId xmlns:a16="http://schemas.microsoft.com/office/drawing/2014/main" id="{63433A17-993D-482D-B7F9-484179A3A42E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438900" y="2009775"/>
            <a:ext cx="5143500" cy="3829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VR 04 Chart and Ins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4 Chart and Insight title 0">
            <a:extLst xmlns:a="http://schemas.openxmlformats.org/drawingml/2006/main">
              <a:ext uri="{FF2B5EF4-FFF2-40B4-BE49-F238E27FC236}">
                <a16:creationId xmlns:a16="http://schemas.microsoft.com/office/drawing/2014/main" id="{1981B9EA-44AA-417D-A8D7-4846B4129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4 Chart and Insight subtitle 1">
            <a:extLst xmlns:a="http://schemas.openxmlformats.org/drawingml/2006/main">
              <a:ext uri="{FF2B5EF4-FFF2-40B4-BE49-F238E27FC236}">
                <a16:creationId xmlns:a16="http://schemas.microsoft.com/office/drawing/2014/main" id="{203F0373-DBFF-4B39-B78F-D5F1C0E05C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4 Chart and Insight body 2">
            <a:extLst xmlns:a="http://schemas.openxmlformats.org/drawingml/2006/main">
              <a:ext uri="{FF2B5EF4-FFF2-40B4-BE49-F238E27FC236}">
                <a16:creationId xmlns:a16="http://schemas.microsoft.com/office/drawing/2014/main" id="{CE421EF1-25AF-4C5D-B9D0-21C2A96A330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4 Chart and Insight chart 3">
            <a:extLst xmlns:a="http://schemas.openxmlformats.org/drawingml/2006/main">
              <a:ext uri="{FF2B5EF4-FFF2-40B4-BE49-F238E27FC236}">
                <a16:creationId xmlns:a16="http://schemas.microsoft.com/office/drawing/2014/main" id="{D8074325-AA63-4099-8C3D-72FE0BA94BB2}"/>
              </a:ext>
            </a:extLst>
          </p:cNvPr>
          <p:cNvSpPr>
            <a:spLocks xmlns:a="http://schemas.openxmlformats.org/drawingml/2006/main" noGrp="1"/>
          </p:cNvSpPr>
          <p:nvPr>
            <p:ph type="chart" idx="3"/>
          </p:nvPr>
        </p:nvSpPr>
        <p:spPr>
          <a:xfrm xmlns:a="http://schemas.openxmlformats.org/drawingml/2006/main">
            <a:off x="609600" y="1714500"/>
            <a:ext cx="78105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4 Chart and Insight body 4">
            <a:extLst xmlns:a="http://schemas.openxmlformats.org/drawingml/2006/main">
              <a:ext uri="{FF2B5EF4-FFF2-40B4-BE49-F238E27FC236}">
                <a16:creationId xmlns:a16="http://schemas.microsoft.com/office/drawing/2014/main" id="{A40D8D98-227A-4A38-B687-7B6CCD6088F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763000" y="1714500"/>
            <a:ext cx="2819400" cy="411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VR 05 Wide Chart and Annota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5 Wide Chart and Annotations title 0">
            <a:extLst xmlns:a="http://schemas.openxmlformats.org/drawingml/2006/main">
              <a:ext uri="{FF2B5EF4-FFF2-40B4-BE49-F238E27FC236}">
                <a16:creationId xmlns:a16="http://schemas.microsoft.com/office/drawing/2014/main" id="{3375E299-6235-41B7-B538-FB4ADA7FE2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5 Wide Chart and Annotations subtitle 1">
            <a:extLst xmlns:a="http://schemas.openxmlformats.org/drawingml/2006/main">
              <a:ext uri="{FF2B5EF4-FFF2-40B4-BE49-F238E27FC236}">
                <a16:creationId xmlns:a16="http://schemas.microsoft.com/office/drawing/2014/main" id="{9E0BAAC4-A077-4609-846C-A051C5F89E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5 Wide Chart and Annotations body 2">
            <a:extLst xmlns:a="http://schemas.openxmlformats.org/drawingml/2006/main">
              <a:ext uri="{FF2B5EF4-FFF2-40B4-BE49-F238E27FC236}">
                <a16:creationId xmlns:a16="http://schemas.microsoft.com/office/drawing/2014/main" id="{30588D8B-BBF2-4F00-AEE1-D9FFFBCC98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5 Wide Chart and Annotations chart 3">
            <a:extLst xmlns:a="http://schemas.openxmlformats.org/drawingml/2006/main">
              <a:ext uri="{FF2B5EF4-FFF2-40B4-BE49-F238E27FC236}">
                <a16:creationId xmlns:a16="http://schemas.microsoft.com/office/drawing/2014/main" id="{05E83B7B-8081-4A28-9C8B-D203C82410B3}"/>
              </a:ext>
            </a:extLst>
          </p:cNvPr>
          <p:cNvSpPr>
            <a:spLocks xmlns:a="http://schemas.openxmlformats.org/drawingml/2006/main" noGrp="1"/>
          </p:cNvSpPr>
          <p:nvPr>
            <p:ph type="chart" idx="3"/>
          </p:nvPr>
        </p:nvSpPr>
        <p:spPr>
          <a:xfrm xmlns:a="http://schemas.openxmlformats.org/drawingml/2006/main">
            <a:off x="609600" y="1657350"/>
            <a:ext cx="10972800" cy="3143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5 Wide Chart and Annotations content 4">
            <a:extLst xmlns:a="http://schemas.openxmlformats.org/drawingml/2006/main">
              <a:ext uri="{FF2B5EF4-FFF2-40B4-BE49-F238E27FC236}">
                <a16:creationId xmlns:a16="http://schemas.microsoft.com/office/drawing/2014/main" id="{75FC8137-401A-4A2D-AEA3-84A3B5DF201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09600" y="5105400"/>
            <a:ext cx="3448050" cy="933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VR 05 Wide Chart and Annotations content 5">
            <a:extLst xmlns:a="http://schemas.openxmlformats.org/drawingml/2006/main">
              <a:ext uri="{FF2B5EF4-FFF2-40B4-BE49-F238E27FC236}">
                <a16:creationId xmlns:a16="http://schemas.microsoft.com/office/drawing/2014/main" id="{87ECDF46-ECDE-4F64-A483-5623E05156B5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4371975" y="5105400"/>
            <a:ext cx="3448050" cy="933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R 05 Wide Chart and Annotations content 6">
            <a:extLst xmlns:a="http://schemas.openxmlformats.org/drawingml/2006/main">
              <a:ext uri="{FF2B5EF4-FFF2-40B4-BE49-F238E27FC236}">
                <a16:creationId xmlns:a16="http://schemas.microsoft.com/office/drawing/2014/main" id="{4F58D7D9-9E79-4166-9DD1-8585DE10BB31}"/>
              </a:ext>
            </a:extLst>
          </p:cNvPr>
          <p:cNvSpPr>
            <a:spLocks xmlns:a="http://schemas.openxmlformats.org/drawingml/2006/main" noGrp="1"/>
          </p:cNvSpPr>
          <p:nvPr>
            <p:ph idx="6"/>
          </p:nvPr>
        </p:nvSpPr>
        <p:spPr>
          <a:xfrm xmlns:a="http://schemas.openxmlformats.org/drawingml/2006/main">
            <a:off x="8134350" y="5105400"/>
            <a:ext cx="3448050" cy="933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VR 06 Mixed-Object Gri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6 Mixed-Object Grid title 0">
            <a:extLst xmlns:a="http://schemas.openxmlformats.org/drawingml/2006/main">
              <a:ext uri="{FF2B5EF4-FFF2-40B4-BE49-F238E27FC236}">
                <a16:creationId xmlns:a16="http://schemas.microsoft.com/office/drawing/2014/main" id="{ACCB76F2-EB07-4EC7-A653-05D4016205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6 Mixed-Object Grid subtitle 1">
            <a:extLst xmlns:a="http://schemas.openxmlformats.org/drawingml/2006/main">
              <a:ext uri="{FF2B5EF4-FFF2-40B4-BE49-F238E27FC236}">
                <a16:creationId xmlns:a16="http://schemas.microsoft.com/office/drawing/2014/main" id="{C4FCA649-64B8-4C1B-986D-E2A9A0DEBC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6 Mixed-Object Grid body 2">
            <a:extLst xmlns:a="http://schemas.openxmlformats.org/drawingml/2006/main">
              <a:ext uri="{FF2B5EF4-FFF2-40B4-BE49-F238E27FC236}">
                <a16:creationId xmlns:a16="http://schemas.microsoft.com/office/drawing/2014/main" id="{416D4297-EB26-4A93-BD57-5A2518898E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6 Mixed-Object Grid picture 3">
            <a:extLst xmlns:a="http://schemas.openxmlformats.org/drawingml/2006/main">
              <a:ext uri="{FF2B5EF4-FFF2-40B4-BE49-F238E27FC236}">
                <a16:creationId xmlns:a16="http://schemas.microsoft.com/office/drawing/2014/main" id="{0704F842-5A24-42E8-88E0-6B9C8991883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09600" y="1657350"/>
            <a:ext cx="5219700" cy="1924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6 Mixed-Object Grid chart 4">
            <a:extLst xmlns:a="http://schemas.openxmlformats.org/drawingml/2006/main">
              <a:ext uri="{FF2B5EF4-FFF2-40B4-BE49-F238E27FC236}">
                <a16:creationId xmlns:a16="http://schemas.microsoft.com/office/drawing/2014/main" id="{CE35A80C-E779-46D4-AAFC-DC0DFCB0AFEC}"/>
              </a:ext>
            </a:extLst>
          </p:cNvPr>
          <p:cNvSpPr>
            <a:spLocks xmlns:a="http://schemas.openxmlformats.org/drawingml/2006/main" noGrp="1"/>
          </p:cNvSpPr>
          <p:nvPr>
            <p:ph type="chart" idx="4"/>
          </p:nvPr>
        </p:nvSpPr>
        <p:spPr>
          <a:xfrm xmlns:a="http://schemas.openxmlformats.org/drawingml/2006/main">
            <a:off x="6362700" y="1657350"/>
            <a:ext cx="5219700" cy="1924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VR 06 Mixed-Object Grid table 5">
            <a:extLst xmlns:a="http://schemas.openxmlformats.org/drawingml/2006/main">
              <a:ext uri="{FF2B5EF4-FFF2-40B4-BE49-F238E27FC236}">
                <a16:creationId xmlns:a16="http://schemas.microsoft.com/office/drawing/2014/main" id="{BE40CA8F-85B3-4FAF-BA00-5D8E9D5F5489}"/>
              </a:ext>
            </a:extLst>
          </p:cNvPr>
          <p:cNvSpPr>
            <a:spLocks xmlns:a="http://schemas.openxmlformats.org/drawingml/2006/main" noGrp="1"/>
          </p:cNvSpPr>
          <p:nvPr>
            <p:ph type="tbl" idx="5"/>
          </p:nvPr>
        </p:nvSpPr>
        <p:spPr>
          <a:xfrm xmlns:a="http://schemas.openxmlformats.org/drawingml/2006/main">
            <a:off x="609600" y="3886200"/>
            <a:ext cx="5219700" cy="1924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R 06 Mixed-Object Grid body 6">
            <a:extLst xmlns:a="http://schemas.openxmlformats.org/drawingml/2006/main">
              <a:ext uri="{FF2B5EF4-FFF2-40B4-BE49-F238E27FC236}">
                <a16:creationId xmlns:a16="http://schemas.microsoft.com/office/drawing/2014/main" id="{2019996C-6EC2-420C-ABD4-503A00787371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6362700" y="3886200"/>
            <a:ext cx="5219700" cy="1924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VR 07 Table and Comment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7 Table and Commentary title 0">
            <a:extLst xmlns:a="http://schemas.openxmlformats.org/drawingml/2006/main">
              <a:ext uri="{FF2B5EF4-FFF2-40B4-BE49-F238E27FC236}">
                <a16:creationId xmlns:a16="http://schemas.microsoft.com/office/drawing/2014/main" id="{4BF0BFDE-7254-4F30-81B5-0319928C2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61975"/>
            <a:ext cx="10972800" cy="5143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7 Table and Commentary subtitle 1">
            <a:extLst xmlns:a="http://schemas.openxmlformats.org/drawingml/2006/main">
              <a:ext uri="{FF2B5EF4-FFF2-40B4-BE49-F238E27FC236}">
                <a16:creationId xmlns:a16="http://schemas.microsoft.com/office/drawing/2014/main" id="{82ADB206-BEA1-44E6-9E9A-9181DB3F59D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9600" y="285750"/>
            <a:ext cx="6858000" cy="209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7 Table and Commentary body 2">
            <a:extLst xmlns:a="http://schemas.openxmlformats.org/drawingml/2006/main">
              <a:ext uri="{FF2B5EF4-FFF2-40B4-BE49-F238E27FC236}">
                <a16:creationId xmlns:a16="http://schemas.microsoft.com/office/drawing/2014/main" id="{9E645E9C-EE1E-416E-B3CB-02C75E0F851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" y="1085850"/>
            <a:ext cx="10668000" cy="304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7 Table and Commentary table 3">
            <a:extLst xmlns:a="http://schemas.openxmlformats.org/drawingml/2006/main">
              <a:ext uri="{FF2B5EF4-FFF2-40B4-BE49-F238E27FC236}">
                <a16:creationId xmlns:a16="http://schemas.microsoft.com/office/drawing/2014/main" id="{628AB144-E0A5-44B3-8E68-7D799E7A5AFA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609600" y="1733550"/>
            <a:ext cx="752475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7 Table and Commentary body 4">
            <a:extLst xmlns:a="http://schemas.openxmlformats.org/drawingml/2006/main">
              <a:ext uri="{FF2B5EF4-FFF2-40B4-BE49-F238E27FC236}">
                <a16:creationId xmlns:a16="http://schemas.microsoft.com/office/drawing/2014/main" id="{E65992B5-64A2-40B3-A35C-D67F8642965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8477250" y="1733550"/>
            <a:ext cx="3105150" cy="409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VR 08 Closing and Next Step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R 08 Closing and Next Steps title 0">
            <a:extLst xmlns:a="http://schemas.openxmlformats.org/drawingml/2006/main">
              <a:ext uri="{FF2B5EF4-FFF2-40B4-BE49-F238E27FC236}">
                <a16:creationId xmlns:a16="http://schemas.microsoft.com/office/drawing/2014/main" id="{0428AEC3-0437-44C1-9D56-F7715A1D6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900" y="1000125"/>
            <a:ext cx="7810500" cy="685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VR 08 Closing and Next Steps subtitle 1">
            <a:extLst xmlns:a="http://schemas.openxmlformats.org/drawingml/2006/main">
              <a:ext uri="{FF2B5EF4-FFF2-40B4-BE49-F238E27FC236}">
                <a16:creationId xmlns:a16="http://schemas.microsoft.com/office/drawing/2014/main" id="{95CF60E8-0AC3-47B3-9C88-C6F8DD6C24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3900" y="609600"/>
            <a:ext cx="5143500" cy="2476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VR 08 Closing and Next Steps picture 2">
            <a:extLst xmlns:a="http://schemas.openxmlformats.org/drawingml/2006/main">
              <a:ext uri="{FF2B5EF4-FFF2-40B4-BE49-F238E27FC236}">
                <a16:creationId xmlns:a16="http://schemas.microsoft.com/office/drawing/2014/main" id="{CBC1E398-CC24-4A99-B674-AF05FA138B4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9982200" y="723900"/>
            <a:ext cx="1409700" cy="876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VR 08 Closing and Next Steps body 3">
            <a:extLst xmlns:a="http://schemas.openxmlformats.org/drawingml/2006/main">
              <a:ext uri="{FF2B5EF4-FFF2-40B4-BE49-F238E27FC236}">
                <a16:creationId xmlns:a16="http://schemas.microsoft.com/office/drawing/2014/main" id="{0EE69EA1-65C2-4E3A-A674-E14B33150A8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23900" y="1981200"/>
            <a:ext cx="10668000" cy="1066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VR 08 Closing and Next Steps content 4">
            <a:extLst xmlns:a="http://schemas.openxmlformats.org/drawingml/2006/main">
              <a:ext uri="{FF2B5EF4-FFF2-40B4-BE49-F238E27FC236}">
                <a16:creationId xmlns:a16="http://schemas.microsoft.com/office/drawing/2014/main" id="{50E14AEE-2177-4D4E-999E-90D2E9779B1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23900" y="3486150"/>
            <a:ext cx="3352800" cy="1352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VR 08 Closing and Next Steps content 5">
            <a:extLst xmlns:a="http://schemas.openxmlformats.org/drawingml/2006/main">
              <a:ext uri="{FF2B5EF4-FFF2-40B4-BE49-F238E27FC236}">
                <a16:creationId xmlns:a16="http://schemas.microsoft.com/office/drawing/2014/main" id="{124C258F-90A9-403D-BE3E-88C6262650F3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4381500" y="3486150"/>
            <a:ext cx="3352800" cy="1352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VR 08 Closing and Next Steps content 6">
            <a:extLst xmlns:a="http://schemas.openxmlformats.org/drawingml/2006/main">
              <a:ext uri="{FF2B5EF4-FFF2-40B4-BE49-F238E27FC236}">
                <a16:creationId xmlns:a16="http://schemas.microsoft.com/office/drawing/2014/main" id="{4053B299-731B-453F-9400-BE416F054F8F}"/>
              </a:ext>
            </a:extLst>
          </p:cNvPr>
          <p:cNvSpPr>
            <a:spLocks xmlns:a="http://schemas.openxmlformats.org/drawingml/2006/main" noGrp="1"/>
          </p:cNvSpPr>
          <p:nvPr>
            <p:ph idx="6"/>
          </p:nvPr>
        </p:nvSpPr>
        <p:spPr>
          <a:xfrm xmlns:a="http://schemas.openxmlformats.org/drawingml/2006/main">
            <a:off x="8039100" y="3486150"/>
            <a:ext cx="3352800" cy="13525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VR 08 Closing and Next Steps subtitle 7">
            <a:extLst xmlns:a="http://schemas.openxmlformats.org/drawingml/2006/main">
              <a:ext uri="{FF2B5EF4-FFF2-40B4-BE49-F238E27FC236}">
                <a16:creationId xmlns:a16="http://schemas.microsoft.com/office/drawing/2014/main" id="{6523D8B8-3534-4D0E-B6C0-A2545E47C115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723900" y="5505450"/>
            <a:ext cx="7239000" cy="285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02214ba894aa5" /><Relationship Type="http://schemas.openxmlformats.org/officeDocument/2006/relationships/slideLayout" Target="/ppt/slideLayouts/slideLayout1.xml" Id="R0cdb8e9f862141ed" /><Relationship Type="http://schemas.openxmlformats.org/officeDocument/2006/relationships/slideLayout" Target="/ppt/slideLayouts/slideLayout2.xml" Id="R7b58b83bb2094b3c" /><Relationship Type="http://schemas.openxmlformats.org/officeDocument/2006/relationships/slideLayout" Target="/ppt/slideLayouts/slideLayout3.xml" Id="Rf9e82f5aa1094339" /><Relationship Type="http://schemas.openxmlformats.org/officeDocument/2006/relationships/slideLayout" Target="/ppt/slideLayouts/slideLayout4.xml" Id="Rf08bb9ce6b4b427a" /><Relationship Type="http://schemas.openxmlformats.org/officeDocument/2006/relationships/slideLayout" Target="/ppt/slideLayouts/slideLayout5.xml" Id="R95c486dc65cd4e07" /><Relationship Type="http://schemas.openxmlformats.org/officeDocument/2006/relationships/slideLayout" Target="/ppt/slideLayouts/slideLayout6.xml" Id="R012cb33d875540b0" /><Relationship Type="http://schemas.openxmlformats.org/officeDocument/2006/relationships/slideLayout" Target="/ppt/slideLayouts/slideLayout7.xml" Id="Rf7235c4462994dd9" /><Relationship Type="http://schemas.openxmlformats.org/officeDocument/2006/relationships/slideLayout" Target="/ppt/slideLayouts/slideLayout8.xml" Id="Rc1bc385d599443dd" /><Relationship Type="http://schemas.openxmlformats.org/officeDocument/2006/relationships/slideLayout" Target="/ppt/slideLayouts/slideLayout9.xml" Id="R7a218d9ed159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b8e9f862141ed"/>
    <p:sldLayoutId xmlns:r="http://schemas.openxmlformats.org/officeDocument/2006/relationships" id="2147483650" r:id="R7b58b83bb2094b3c"/>
    <p:sldLayoutId xmlns:r="http://schemas.openxmlformats.org/officeDocument/2006/relationships" id="2147483651" r:id="Rf9e82f5aa1094339"/>
    <p:sldLayoutId xmlns:r="http://schemas.openxmlformats.org/officeDocument/2006/relationships" id="2147483652" r:id="Rf08bb9ce6b4b427a"/>
    <p:sldLayoutId xmlns:r="http://schemas.openxmlformats.org/officeDocument/2006/relationships" id="2147483653" r:id="R95c486dc65cd4e07"/>
    <p:sldLayoutId xmlns:r="http://schemas.openxmlformats.org/officeDocument/2006/relationships" id="2147483654" r:id="R012cb33d875540b0"/>
    <p:sldLayoutId xmlns:r="http://schemas.openxmlformats.org/officeDocument/2006/relationships" id="2147483655" r:id="Rf7235c4462994dd9"/>
    <p:sldLayoutId xmlns:r="http://schemas.openxmlformats.org/officeDocument/2006/relationships" id="2147483656" r:id="Rc1bc385d599443dd"/>
    <p:sldLayoutId xmlns:r="http://schemas.openxmlformats.org/officeDocument/2006/relationships" id="2147483657" r:id="R7a218d9ed159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olatility Research">
      <a:dk1>
        <a:srgbClr val="000000"/>
      </a:dk1>
      <a:lt1>
        <a:srgbClr val="FFFFFF"/>
      </a:lt1>
      <a:dk2>
        <a:srgbClr val="102638"/>
      </a:dk2>
      <a:lt2>
        <a:srgbClr val="E4EAED"/>
      </a:lt2>
      <a:accent1>
        <a:srgbClr val="00A7A0"/>
      </a:accent1>
      <a:accent2>
        <a:srgbClr val="517EA5"/>
      </a:accent2>
      <a:accent3>
        <a:srgbClr val="E8A12E"/>
      </a:accent3>
      <a:accent4>
        <a:srgbClr val="D86055"/>
      </a:accent4>
      <a:accent5>
        <a:srgbClr val="7667A8"/>
      </a:accent5>
      <a:accent6>
        <a:srgbClr val="087D79"/>
      </a:accent6>
      <a:hlink>
        <a:srgbClr val="517EA5"/>
      </a:hlink>
      <a:folHlink>
        <a:srgbClr val="7667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latilit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fae6798a64dd4" /><Relationship Type="http://schemas.openxmlformats.org/officeDocument/2006/relationships/notesSlide" Target="/ppt/notesSlides/notesSlide1.xml" Id="R5410c673dd66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f8a80f94a45cf" /><Relationship Type="http://schemas.openxmlformats.org/officeDocument/2006/relationships/notesSlide" Target="/ppt/notesSlides/notesSlide2.xml" Id="Rd727a821ca71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a0de7bcd47e2" /><Relationship Type="http://schemas.openxmlformats.org/officeDocument/2006/relationships/notesSlide" Target="/ppt/notesSlides/notesSlide3.xml" Id="R5f98aaa874ee4a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2b66a14ac4026" /><Relationship Type="http://schemas.openxmlformats.org/officeDocument/2006/relationships/chart" Target="/ppt/slides/charts/chart1.xml" Id="R2dd45d9c8e5e4216" /><Relationship Type="http://schemas.openxmlformats.org/officeDocument/2006/relationships/notesSlide" Target="/ppt/notesSlides/notesSlide4.xml" Id="Reec51f2055764b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562f07f4b4bcf" /><Relationship Type="http://schemas.openxmlformats.org/officeDocument/2006/relationships/chart" Target="/ppt/slides/charts/chart2.xml" Id="R94663bb9248b4bbb" /><Relationship Type="http://schemas.openxmlformats.org/officeDocument/2006/relationships/notesSlide" Target="/ppt/notesSlides/notesSlide5.xml" Id="Rbd618cf1d17a4c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b8ff880a401f" /><Relationship Type="http://schemas.openxmlformats.org/officeDocument/2006/relationships/chart" Target="/ppt/slides/charts/chart3.xml" Id="R79288daef4f747b5" /><Relationship Type="http://schemas.openxmlformats.org/officeDocument/2006/relationships/notesSlide" Target="/ppt/notesSlides/notesSlide6.xml" Id="Rac3561b6526140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ef269161f4636" /><Relationship Type="http://schemas.openxmlformats.org/officeDocument/2006/relationships/chart" Target="/ppt/slides/charts/chart4.xml" Id="R882fabc569c34553" /><Relationship Type="http://schemas.openxmlformats.org/officeDocument/2006/relationships/chart" Target="/ppt/slides/charts/chart5.xml" Id="R6c5468ced69b48af" /><Relationship Type="http://schemas.openxmlformats.org/officeDocument/2006/relationships/notesSlide" Target="/ppt/notesSlides/notesSlide7.xml" Id="Rae5e38d6a0fb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5db66b71f4f30" /><Relationship Type="http://schemas.openxmlformats.org/officeDocument/2006/relationships/chart" Target="/ppt/slides/charts/chart6.xml" Id="R1159b88bcc47442b" /><Relationship Type="http://schemas.openxmlformats.org/officeDocument/2006/relationships/notesSlide" Target="/ppt/notesSlides/notesSlide8.xml" Id="Rdb05444212144f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cf1741a344272" /><Relationship Type="http://schemas.openxmlformats.org/officeDocument/2006/relationships/notesSlide" Target="/ppt/notesSlides/notesSlide9.xml" Id="R73a5bc08be8c41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fcbe64d8ca49f8" /><Relationship Type="http://schemas.openxmlformats.org/officeDocument/2006/relationships/notesSlide" Target="/ppt/notesSlides/notesSlide10.xml" Id="Rdf9ef9f2eece4b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6ab610c03e34d7c" /><Relationship Type="http://schemas.openxmlformats.org/officeDocument/2006/relationships/notesSlide" Target="/ppt/notesSlides/notesSlide11.xml" Id="Rec88a67dd07e43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8a2aecb2fc424f" /><Relationship Type="http://schemas.openxmlformats.org/officeDocument/2006/relationships/notesSlide" Target="/ppt/notesSlides/notesSlide12.xml" Id="Rb6d1370003f546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a328a86394a7e" /><Relationship Type="http://schemas.openxmlformats.org/officeDocument/2006/relationships/notesSlide" Target="/ppt/notesSlides/notesSlide13.xml" Id="R4d9ec4d0dc6a4d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1f29f76fc24ec2" /><Relationship Type="http://schemas.openxmlformats.org/officeDocument/2006/relationships/notesSlide" Target="/ppt/notesSlides/notesSlide14.xml" Id="R60cd594fe0a145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7b66e685294123" /><Relationship Type="http://schemas.openxmlformats.org/officeDocument/2006/relationships/notesSlide" Target="/ppt/notesSlides/notesSlide15.xml" Id="R033e2b86997a44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7492b6f409248da" /><Relationship Type="http://schemas.openxmlformats.org/officeDocument/2006/relationships/notesSlide" Target="/ppt/notesSlides/notesSlide16.xml" Id="Ra4a80f4f05b5450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Largest standardized future mean shifts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Absolute shift</c:v>
          </c:tx>
          <c:spPr>
            <a:solidFill xmlns:a="http://schemas.openxmlformats.org/drawingml/2006/main">
              <a:srgbClr val="517EA5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00A7A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A7A0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A7A0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Volatility std 5</c:v>
                </c:pt>
                <c:pt idx="1">
                  <c:v>Volatility lag 1</c:v>
                </c:pt>
                <c:pt idx="2">
                  <c:v>Return std 5</c:v>
                </c:pt>
                <c:pt idx="3">
                  <c:v>Volatility mean 5</c:v>
                </c:pt>
                <c:pt idx="4">
                  <c:v>Volatility std 20</c:v>
                </c:pt>
                <c:pt idx="5">
                  <c:v>Return std 20</c:v>
                </c:pt>
                <c:pt idx="6">
                  <c:v>Macro volatility index</c:v>
                </c:pt>
                <c:pt idx="7">
                  <c:v>Volatility mean 20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0.659</c:v>
                </c:pt>
                <c:pt idx="1">
                  <c:v>0.706</c:v>
                </c:pt>
                <c:pt idx="2">
                  <c:v>0.742</c:v>
                </c:pt>
                <c:pt idx="3">
                  <c:v>1.01</c:v>
                </c:pt>
                <c:pt idx="4">
                  <c:v>1.035</c:v>
                </c:pt>
                <c:pt idx="5">
                  <c:v>1.401</c:v>
                </c:pt>
                <c:pt idx="6">
                  <c:v>1.41</c:v>
                </c:pt>
                <c:pt idx="7">
                  <c:v>1.428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5242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Expanding outer folds across 122 development dates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stack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102638"/>
            </a:solidFill>
          </c:spPr>
          <c:cat>
            <c:strRef>
              <c:f>'Chart Data'!$A$2:$A$5</c:f>
              <c:strCache>
                <c:ptCount val="4"/>
                <c:pt idx="0">
                  <c:v>Fold 4</c:v>
                </c:pt>
                <c:pt idx="1">
                  <c:v>Fold 3</c:v>
                </c:pt>
                <c:pt idx="2">
                  <c:v>Fold 2</c:v>
                </c:pt>
                <c:pt idx="3">
                  <c:v>Fold 1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97</c:v>
                </c:pt>
                <c:pt idx="1">
                  <c:v>73</c:v>
                </c:pt>
                <c:pt idx="2">
                  <c:v>49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v>Purge</c:v>
          </c:tx>
          <c:spPr>
            <a:solidFill xmlns:a="http://schemas.openxmlformats.org/drawingml/2006/main">
              <a:srgbClr val="E8A12E"/>
            </a:solidFill>
          </c:spPr>
          <c:cat>
            <c:strRef>
              <c:f>'Chart Data'!$C$2:$C$5</c:f>
              <c:strCache>
                <c:ptCount val="4"/>
                <c:pt idx="0">
                  <c:v>Fold 4</c:v>
                </c:pt>
                <c:pt idx="1">
                  <c:v>Fold 3</c:v>
                </c:pt>
                <c:pt idx="2">
                  <c:v>Fold 2</c:v>
                </c:pt>
                <c:pt idx="3">
                  <c:v>Fold 1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2"/>
          <c:order val="2"/>
          <c:tx>
            <c:v>Validation</c:v>
          </c:tx>
          <c:spPr>
            <a:solidFill xmlns:a="http://schemas.openxmlformats.org/drawingml/2006/main">
              <a:srgbClr val="00A7A0"/>
            </a:solidFill>
          </c:spPr>
          <c:cat>
            <c:strRef>
              <c:f>'Chart Data'!$E$2:$E$5</c:f>
              <c:strCache>
                <c:ptCount val="4"/>
                <c:pt idx="0">
                  <c:v>Fold 4</c:v>
                </c:pt>
                <c:pt idx="1">
                  <c:v>Fold 3</c:v>
                </c:pt>
                <c:pt idx="2">
                  <c:v>Fold 2</c:v>
                </c:pt>
                <c:pt idx="3">
                  <c:v>Fold 1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24</c:v>
                </c:pt>
                <c:pt idx="1">
                  <c:v>24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</c:ser>
        <c:ser>
          <c:idx val="3"/>
          <c:order val="3"/>
          <c:tx>
            <c:v>Later development dates</c:v>
          </c:tx>
          <c:spPr>
            <a:solidFill xmlns:a="http://schemas.openxmlformats.org/drawingml/2006/main">
              <a:srgbClr val="E4EAED"/>
            </a:solidFill>
          </c:spPr>
          <c:cat>
            <c:strRef>
              <c:f>'Chart Data'!$G$2:$G$5</c:f>
              <c:strCache>
                <c:ptCount val="4"/>
                <c:pt idx="0">
                  <c:v>Fold 4</c:v>
                </c:pt>
                <c:pt idx="1">
                  <c:v>Fold 3</c:v>
                </c:pt>
                <c:pt idx="2">
                  <c:v>Fold 2</c:v>
                </c:pt>
                <c:pt idx="3">
                  <c:v>Fold 1</c:v>
                </c:pt>
              </c:strCache>
            </c:strRef>
          </c:cat>
          <c:val>
            <c:numRef>
              <c:f>'Chart Data'!$H$2:$H$5</c:f>
              <c:numCache>
                <c:formatCode>General</c:formatCode>
                <c:ptCount val="4"/>
                <c:pt idx="0">
                  <c:v>0</c:v>
                </c:pt>
                <c:pt idx="1">
                  <c:v>24</c:v>
                </c:pt>
                <c:pt idx="2">
                  <c:v>48</c:v>
                </c:pt>
                <c:pt idx="3">
                  <c:v>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825">
                    <a:solidFill>
                      <a:srgbClr val="4E6170"/>
                    </a:solidFill>
                    <a:latin typeface="Avenir Next"/>
                    <a:ea typeface="Avenir Next"/>
                    <a:cs typeface="Avenir Next"/>
                  </a:rPr>
                  <a:t>ordered unique dates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4E6170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E6170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Pooled out-of-fold RMSE · lower is better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A9B6BE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00A7A0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Global mean</c:v>
                </c:pt>
                <c:pt idx="1">
                  <c:v>Sector mean</c:v>
                </c:pt>
                <c:pt idx="2">
                  <c:v>Ridge</c:v>
                </c:pt>
                <c:pt idx="3">
                  <c:v>XGBoost</c:v>
                </c:pt>
                <c:pt idx="4">
                  <c:v>LightGBM</c:v>
                </c:pt>
                <c:pt idx="5">
                  <c:v>Persistence</c:v>
                </c:pt>
              </c:strCache>
            </c:strRef>
          </c:cat>
          <c:val>
            <c:numRef>
              <c:f>'Chart Data'!$B$2:$B$7</c:f>
              <c:numCache>
                <c:formatCode>0.0000</c:formatCode>
                <c:ptCount val="6"/>
                <c:pt idx="0">
                  <c:v>0.019987</c:v>
                </c:pt>
                <c:pt idx="1">
                  <c:v>0.019835</c:v>
                </c:pt>
                <c:pt idx="2">
                  <c:v>0.019257</c:v>
                </c:pt>
                <c:pt idx="3">
                  <c:v>0.010671</c:v>
                </c:pt>
                <c:pt idx="4">
                  <c:v>0.010478</c:v>
                </c:pt>
                <c:pt idx="5">
                  <c:v>0.008556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5242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RMSE by outer fold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Persistence</c:v>
          </c:tx>
          <c:spPr>
            <a:ln xmlns:a="http://schemas.openxmlformats.org/drawingml/2006/main" w="38100">
              <a:solidFill>
                <a:srgbClr val="00A7A0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0A7A0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0.006417</c:v>
                </c:pt>
                <c:pt idx="1">
                  <c:v>0.00643</c:v>
                </c:pt>
                <c:pt idx="2">
                  <c:v>0.008791</c:v>
                </c:pt>
                <c:pt idx="3">
                  <c:v>0.011534</c:v>
                </c:pt>
              </c:numCache>
            </c:numRef>
          </c:val>
          <c:smooth val="0"/>
        </c:ser>
        <c:ser>
          <c:idx val="1"/>
          <c:order val="1"/>
          <c:tx>
            <c:v>LightGBM</c:v>
          </c:tx>
          <c:spPr>
            <a:ln xmlns:a="http://schemas.openxmlformats.org/drawingml/2006/main" w="23813">
              <a:solidFill>
                <a:srgbClr val="517EA5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517EA5"/>
              </a:solidFill>
            </c:spPr>
          </c:marker>
          <c:cat>
            <c:strRef>
              <c:f>'Chart Data'!$C$2:$C$5</c:f>
              <c:strCache>
                <c:ptCount val="4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0.007158</c:v>
                </c:pt>
                <c:pt idx="1">
                  <c:v>0.006298</c:v>
                </c:pt>
                <c:pt idx="2">
                  <c:v>0.009115</c:v>
                </c:pt>
                <c:pt idx="3">
                  <c:v>0.016284</c:v>
                </c:pt>
              </c:numCache>
            </c:numRef>
          </c:val>
          <c:smooth val="0"/>
        </c:ser>
        <c:ser>
          <c:idx val="2"/>
          <c:order val="2"/>
          <c:tx>
            <c:v>XGBoost</c:v>
          </c:tx>
          <c:spPr>
            <a:ln xmlns:a="http://schemas.openxmlformats.org/drawingml/2006/main" w="23813">
              <a:solidFill>
                <a:srgbClr val="7667A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7667A8"/>
              </a:solidFill>
            </c:spPr>
          </c:marker>
          <c:cat>
            <c:strRef>
              <c:f>'Chart Data'!$E$2:$E$5</c:f>
              <c:strCache>
                <c:ptCount val="4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</c:strCache>
            </c:strRef>
          </c:cat>
          <c:val>
            <c:numRef>
              <c:f>'Chart Data'!$F$2:$F$5</c:f>
              <c:numCache>
                <c:formatCode>0.000</c:formatCode>
                <c:ptCount val="4"/>
                <c:pt idx="0">
                  <c:v>0.006874</c:v>
                </c:pt>
                <c:pt idx="1">
                  <c:v>0.005879</c:v>
                </c:pt>
                <c:pt idx="2">
                  <c:v>0.009175</c:v>
                </c:pt>
                <c:pt idx="3">
                  <c:v>0.017013</c:v>
                </c:pt>
              </c:numCache>
            </c:numRef>
          </c:val>
          <c:smooth val="0"/>
        </c:ser>
        <c:ser>
          <c:idx val="3"/>
          <c:order val="3"/>
          <c:tx>
            <c:v>Ridge</c:v>
          </c:tx>
          <c:spPr>
            <a:ln xmlns:a="http://schemas.openxmlformats.org/drawingml/2006/main" w="23813">
              <a:solidFill>
                <a:srgbClr val="E8A12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E8A12E"/>
              </a:solidFill>
            </c:spPr>
          </c:marker>
          <c:cat>
            <c:strRef>
              <c:f>'Chart Data'!$G$2:$G$5</c:f>
              <c:strCache>
                <c:ptCount val="4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</c:strCache>
            </c:strRef>
          </c:cat>
          <c:val>
            <c:numRef>
              <c:f>'Chart Data'!$H$2:$H$5</c:f>
              <c:numCache>
                <c:formatCode>0.000</c:formatCode>
                <c:ptCount val="4"/>
                <c:pt idx="0">
                  <c:v>0.00973</c:v>
                </c:pt>
                <c:pt idx="1">
                  <c:v>0.005947</c:v>
                </c:pt>
                <c:pt idx="2">
                  <c:v>0.01112</c:v>
                </c:pt>
                <c:pt idx="3">
                  <c:v>0.035066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venir Next"/>
                  <a:ea typeface="Avenir Next"/>
                  <a:cs typeface="Avenir N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0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0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E6170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Sector tail-error rate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Tail rate</c:v>
          </c:tx>
          <c:spPr>
            <a:solidFill xmlns:a="http://schemas.openxmlformats.org/drawingml/2006/main">
              <a:srgbClr val="517EA5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E8A12E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86055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Energy</c:v>
                </c:pt>
                <c:pt idx="1">
                  <c:v>Industrial</c:v>
                </c:pt>
                <c:pt idx="2">
                  <c:v>Health</c:v>
                </c:pt>
                <c:pt idx="3">
                  <c:v>Technology</c:v>
                </c:pt>
                <c:pt idx="4">
                  <c:v>Finance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0.0226</c:v>
                </c:pt>
                <c:pt idx="1">
                  <c:v>0.0458</c:v>
                </c:pt>
                <c:pt idx="2">
                  <c:v>0.0486</c:v>
                </c:pt>
                <c:pt idx="3">
                  <c:v>0.0646</c:v>
                </c:pt>
                <c:pt idx="4">
                  <c:v>0.0712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5242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Selected persistence rule · development and sealed error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102638"/>
              </a:solidFill>
              <a:latin typeface="Avenir Next"/>
              <a:ea typeface="Avenir Next"/>
              <a:cs typeface="Avenir Next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00A7A0"/>
            </a:solidFill>
          </c:spPr>
          <c:cat>
            <c:strRef>
              <c:f>'Chart Data'!$A$2:$A$3</c:f>
              <c:strCache>
                <c:ptCount val="2"/>
                <c:pt idx="0">
                  <c:v>OOF</c:v>
                </c:pt>
                <c:pt idx="1">
                  <c:v>Sealed</c:v>
                </c:pt>
              </c:strCache>
            </c:strRef>
          </c:cat>
          <c:val>
            <c:numRef>
              <c:f>'Chart Data'!$B$2:$B$3</c:f>
              <c:numCache>
                <c:formatCode>0.0000</c:formatCode>
                <c:ptCount val="2"/>
                <c:pt idx="0">
                  <c:v>0.008556</c:v>
                </c:pt>
                <c:pt idx="1">
                  <c:v>0.011149</c:v>
                </c:pt>
              </c:numCache>
            </c:numRef>
          </c:val>
        </c:ser>
        <c:ser>
          <c:idx val="1"/>
          <c:order val="1"/>
          <c:tx>
            <c:v>MAE</c:v>
          </c:tx>
          <c:spPr>
            <a:solidFill xmlns:a="http://schemas.openxmlformats.org/drawingml/2006/main">
              <a:srgbClr val="517EA5"/>
            </a:solidFill>
          </c:spPr>
          <c:cat>
            <c:strRef>
              <c:f>'Chart Data'!$C$2:$C$3</c:f>
              <c:strCache>
                <c:ptCount val="2"/>
                <c:pt idx="0">
                  <c:v>OOF</c:v>
                </c:pt>
                <c:pt idx="1">
                  <c:v>Sealed</c:v>
                </c:pt>
              </c:strCache>
            </c:strRef>
          </c:cat>
          <c:val>
            <c:numRef>
              <c:f>'Chart Data'!$D$2:$D$3</c:f>
              <c:numCache>
                <c:formatCode>0.0000</c:formatCode>
                <c:ptCount val="2"/>
                <c:pt idx="0">
                  <c:v>0.006256</c:v>
                </c:pt>
                <c:pt idx="1">
                  <c:v>0.008025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5242F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  <c:max val="0.01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AED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E4EAE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  <c:majorUnit val="0.003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4E6170"/>
              </a:solidFill>
              <a:latin typeface="Avenir Next"/>
              <a:ea typeface="Avenir Next"/>
              <a:cs typeface="Avenir Nex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3F36D-3D8E-4C28-A727-2DA17F8E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0E6C7-16B6-46A6-B91A-DB2055F5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7A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0A7A0"/>
                </a:solidFill>
                <a:latin typeface="Avenir Next"/>
                <a:ea typeface="Avenir Next"/>
                <a:cs typeface="Avenir Next"/>
              </a:rPr>
              <a:t>VOLATILITY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CC5E0-473C-4120-B646-72C9B311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Panel volatility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forecasting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346B1-65B1-41AF-95A8-FB532EBB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7DF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C9D7DF"/>
                </a:solidFill>
                <a:latin typeface="Avenir Next"/>
                <a:ea typeface="Avenir Next"/>
                <a:cs typeface="Avenir Next"/>
              </a:rPr>
              <a:t>End-to-end pipeline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5EA1A-DA97-48A7-A724-5A48054A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647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GENERATED DEMONSTRATION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317BC-3AB6-4C51-8E32-F8544A2B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50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AA3D8-402B-4818-9842-9604F60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4,920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B453C-1671-4934-B20C-96DA2C36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rPr>
              <a:t>panel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D7221-F2F6-405F-8FA5-522DC1CE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768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98D37-7932-46BE-B71D-881F953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86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rPr>
              <a:t>assets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EA97E-3161-456B-9CEA-6B16A4D3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76875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7C804-CADE-4041-9CBB-E659E509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864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FC0CA"/>
                </a:solidFill>
                <a:latin typeface="Avenir Next"/>
                <a:ea typeface="Avenir Next"/>
                <a:cs typeface="Avenir Next"/>
              </a:rPr>
              <a:t>outer folds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EFC3D-6A54-4EEE-95D3-97B4FD2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76925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FC0CA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FC0CA"/>
                </a:solidFill>
                <a:latin typeface="Avenir Next"/>
                <a:ea typeface="Avenir Next"/>
                <a:cs typeface="Avenir Next"/>
              </a:rPr>
              <a:t>09 Sep 2026</a:t>
            </a:r>
          </a:p>
        </p:txBody>
      </p:sp>
    </p:spTree>
    <p:extLst>
      <p:ext uri="{BB962C8B-B14F-4D97-AF65-F5344CB8AC3E}">
        <p14:creationId xmlns:p14="http://schemas.microsoft.com/office/powerpoint/2010/main" val="8430363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B7424-11AF-44EB-B761-0F686A9D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04043-5AF3-4B05-AE91-EF2F908E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C25AF-A7ED-41EF-B3EA-A620B587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The forecast is one step ahead at asset-date grain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30C8-3ACF-4D67-8050-C71BCDCE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Information available at date t predicts realized volatility at date t + 1.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A2C6A-94A9-4E42-B843-560FC408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0961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7096125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23950"/>
                <a:gridCol w="876300"/>
                <a:gridCol w="2714625"/>
              </a:tblGrid>
              <a:tr h="466725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Input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Columns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Role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Train 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150 dates · 28 assets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Future observations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24 dates · 30 assets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Next-date target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Asset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Static attributes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Macro releases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Timestamped context</a:t>
                      </a:r>
                    </a:p>
                  </a:txBody>
                  <a:tcPr marL="91440" marR="91440" marT="45720" marB="45720"/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Output template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Required row order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7B9527-C7E0-46D6-98CB-3D727CB7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B32EA-0BA8-4EE9-9E94-1EE61607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240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4,200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FFE99-18B4-41F4-A3CF-AAC28492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labeled 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02864-120F-4836-9B1C-421024B9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7177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235DA-4162-41B2-B3F0-5F024A9E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720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16EA3-0DD5-4C8F-85EB-379E259E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future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649BC-6ABB-4D78-AAFB-8EE40E1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48125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2D8B6-AC80-44BF-9D4A-9F8E24B9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767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CD679-7143-4F94-ADBE-EC7608E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assets in the future panel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8DD7BC-1A47-4FE7-B9BA-9A518968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48300"/>
            <a:ext cx="2914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PRIMARY METRIC · POOLED OOF RMSE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810809-E3FF-4EC1-A78C-72C70698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B65C4-20EC-4FEB-A28F-A4E48820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A8E5C-2CF5-428E-9C9C-EE634538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508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DC1ED-C38D-4B99-9308-C0CAB629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6D05F-E2B2-4940-83F8-B1D19C80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DATA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6EEE7-A7ED-403F-B6CE-C084E775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Every join preserves the panel grain and information timing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95E6F-753F-48FC-8110-B1CA4E0C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Deterministic cleaning handles known defects before cardinality-safe joins.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8F101-D70A-49C3-8E0E-DA5A5644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50B9E-F103-4ECB-90E6-1B83C23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duplicate keys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F12BF-73CB-4B10-8532-23826E6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621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FC936C-691E-4530-8E3B-418E78E3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target defects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47B2A-4CE3-42E0-A890-5427BB51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62100"/>
            <a:ext cx="2095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B8014-5952-45B2-B2B6-39346725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90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join 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831128-90AF-45FF-9B64-998A3A9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609600" y="2486025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05125"/>
                <a:gridCol w="2266950"/>
                <a:gridCol w="1695450"/>
                <a:gridCol w="1695450"/>
                <a:gridCol w="2409825"/>
              </a:tblGrid>
              <a:tr h="5143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Join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Cardinality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Rows before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Rows after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Match</a:t>
                      </a:r>
                    </a:p>
                  </a:txBody>
                  <a:tcPr marL="91440" marR="91440" marT="45720" marB="45720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Labels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one-to-one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87D79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Asset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many-to-one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87D79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Macro releases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backward as-of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4,920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87D79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10709-C282-4E91-BB17-22F9E62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2863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AED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5AE8B-C4D8-4CDE-A34A-47809415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67300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661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9A6617"/>
                </a:solidFill>
                <a:latin typeface="Avenir Next"/>
                <a:ea typeface="Avenir Next"/>
                <a:cs typeface="Avenir Next"/>
              </a:rPr>
              <a:t>KNOWN INPUT REPAIRS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C583F-C757-46AD-A57D-DC98353C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1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6059C-8466-421B-B154-B54FE4C0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62575"/>
            <a:ext cx="467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34 missing train-volume cells remain explicit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EF4B60-5CDE-4C52-A126-F3C52AB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4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1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903B9-78D2-475A-8B44-D54E84E8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57850"/>
            <a:ext cx="467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7 infinite future option-skew values become missing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6B0E1-A340-4B9D-8A52-8125852E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905375"/>
            <a:ext cx="54387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4CCB0-34F0-4E29-9773-553E0E3E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POINT-IN-TIME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AD826-61D6-4367-9C76-8B08EB22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62575"/>
            <a:ext cx="491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Every macro release timestamp is no later than its matched panel 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966D4-CAF5-4D14-80B9-2184488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C9D4A-DBF4-45C0-A427-56C44948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5D148-C926-4179-8B3F-C1C162DB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59150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45826-E122-420F-83FC-C5EB5326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0B77D-563F-4E76-9672-00893229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FEATURES AND DRIFT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31867-5162-4A5C-A522-0BCBFB73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Causal features are intact, while future drift is material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4E849-F5E0-4BE5-9D3E-CDE1BCB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Shifted entity histories enter the model. Same-date cross-sectional transforms stay disabled.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52450" y="1581150"/>
          <a:ext xmlns:a="http://schemas.openxmlformats.org/drawingml/2006/main" cx="73152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d45d9c8e5e421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7C8C2-B80E-47FD-9B86-42CBE86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128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12F35-2D65-46F9-8AE9-E59B755C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57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numeric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84A24-5B9D-456E-8C7D-4E83A0D9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+ 2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3D744-6655-41F2-BFEA-0C4D5700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574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categorical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040DA-F382-4532-86D5-145F25F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2CBC68-40E7-4391-ABE0-C2F99DB0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ABA6B-BE89-493F-8E40-18B5EF62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962275"/>
            <a:ext cx="2962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5- and 20-observation rolling statistics use a one-row shift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4A28C-0159-4B35-9B6F-6CDD0D3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7ED7F-25E9-46EE-9A8E-A0449637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09975"/>
            <a:ext cx="29622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Row, asset, time and target fields stay outside the model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03968-C9E3-47AF-8AE4-1E44A5A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12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42F85-EACF-41E0-9B83-15A09F3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57675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Same-date panel transforms are 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DC0AF-EBF7-4D4B-954C-B0E89FF7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48225"/>
            <a:ext cx="3143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7126D-F34B-4D1D-A0F5-00D64AE8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1714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6.67%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DB45B-580B-4D61-A077-32D5A1BC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38775"/>
            <a:ext cx="2628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future rows belong to an unseen group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F2D3E-93CC-44EB-886D-1DF303F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09C8C8-CC67-44F0-97B7-BEC8C1F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C7D1E-0CA2-4C66-A548-7CCFEBE3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6484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CB329B-DAD0-44DD-A9B8-0CCCED4C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177AB-8A67-495B-A5F2-7FB50F0E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VALIDATION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E4252-872F-483E-B5C6-3DC80D99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Purged whole-date folds make the OOF comparison honest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E0B83-B3E7-4361-BA92-493AFF56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Every candidate scores the same complete dates. Learned-model tuning stays inside each outer training block.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795337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63bb9248b4bb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226D6-CF20-42FE-9E97-57AB2E2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85925"/>
            <a:ext cx="27717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C19AF-0A33-476C-A28D-0148D231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478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7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2,688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A5FD0-7309-4228-B26F-8F31FE45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955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unique OOF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55E29C-8CC4-49DA-A1A7-07699726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04800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122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989E3-5798-408D-A945-08C473CE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0515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development 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28B9E-AFE0-49FC-AA98-F4E2A411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33775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A12E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8A12E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C2956-3584-4C2E-9B08-F292341F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909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boundary purge 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D70D7-09E9-40CD-927D-15FF7A8D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19550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E14D7-2A33-48B1-818F-E23D39BB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767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sealed 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BB244-609C-48E0-A9C1-74B8FFDF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05325"/>
            <a:ext cx="76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672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1A6B7-A973-479D-B899-E6BAE75B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62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rows per validation fold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3B276-DA31-439D-A585-7BB6EE9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676275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7F30D-17B3-4C4D-B017-A4A793F2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7A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0A7A0"/>
                </a:solidFill>
                <a:latin typeface="Avenir Next"/>
                <a:ea typeface="Avenir Next"/>
                <a:cs typeface="Avenir Next"/>
              </a:rPr>
              <a:t>NESTED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27738-BD33-4436-8C64-D6E7F0CF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626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Each learned model runs a fresh three-fold inner time search inside every outer training block.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C251B-1B5D-46E5-B67E-E8C3D639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450D67-62CE-4C78-B64D-A3335C88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37A48-3C86-4E1F-A97D-98E5266A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5805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C5772-657A-4658-BEB9-03E3CEA4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4642D-A7D2-4AE9-8F12-CD3286F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MODEL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CB717-E71D-4F19-8C42-0FA02E39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Persistence wins the declared OOF 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1CAAE-0BE6-4D24-8DB6-E018DE9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Learned models improve rank correlation slightly, but they lose the volatility-level error comparison.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702945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288daef4f747b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C4F8D-CC50-47EA-BDB5-7EE6882D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9725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SELECTED · PERSISTENCE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C9E5D-9ECA-46DF-AC6C-A0722E6C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383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0.008556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B3133-B5DD-4A7A-A65D-37534D5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55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pooled OOF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9BFCB-0B83-4F1F-B94B-419F9487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3733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7848600" y="3048000"/>
          <a:ext xmlns:a="http://schemas.openxmlformats.org/drawingml/2006/main" cx="3733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952500"/>
                <a:gridCol w="1219200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Candidate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MAE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Daily rank IC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0.006256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0.8466</a:t>
                      </a:r>
                    </a:p>
                  </a:txBody>
                  <a:tcPr marL="91440" marR="91440" marT="45720" marB="45720">
                    <a:solidFill>
                      <a:srgbClr val="DDF3F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LightGBM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0.007120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0.8561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XGBoost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0.007102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0.8578</a:t>
                      </a:r>
                    </a:p>
                  </a:txBody>
                  <a:tcPr marL="91440" marR="91440" marT="45720" marB="45720"/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Ridge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0.009738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0.8741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C1619-D6A9-474E-A64A-A3CB99F0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76875"/>
            <a:ext cx="3733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AED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3AC6E-1F2A-423B-80BA-9DC51D5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6007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5D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A5D19"/>
                </a:solidFill>
                <a:latin typeface="Avenir Next"/>
                <a:ea typeface="Avenir Next"/>
                <a:cs typeface="Avenir Next"/>
              </a:rPr>
              <a:t>LightGBM shows −22.5% skill versus persistence on RMSE.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28F15-1CFE-41FC-AF50-E38E3BA7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538FC-93B3-48CF-A071-8EF5696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3A4C4-A662-4276-952F-EC73049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39214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9D872-754B-4365-81EE-F3626E9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7328D-3EE7-4C8A-95EB-B172809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STABILITY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33C41-3200-4DE7-9C9C-C8FEEDD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The error budget concentrates in stress periods and late folds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FC3F1-047D-4595-B303-D3C70AB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Persistence wins three of four folds. Cross-sector tail behavior is uneven but not isolated to one group.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04825" y="1543050"/>
          <a:ext xmlns:a="http://schemas.openxmlformats.org/drawingml/2006/main" cx="6429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2fabc569c34553"/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829550" y="1543050"/>
          <a:ext xmlns:a="http://schemas.openxmlformats.org/drawingml/2006/main" cx="3810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5468ced69b48a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2D2E4-E06F-4137-B1A9-4895B840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335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3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7EF56-3F81-4E42-811A-FCE47EA9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673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1.90×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05119-5627-4FD2-9C36-D0D8E6A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high-regime MAE</a:t>
            </a:r>
          </a:p>
          <a:p xmlns:a="http://schemas.openxmlformats.org/drawingml/2006/main">
            <a:pPr algn="l">
              <a:def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versus low regime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8492E-0FA8-4C10-AC00-D565DD98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33975"/>
            <a:ext cx="335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65B11-F4B5-4E08-8652-FA506459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67325"/>
            <a:ext cx="1428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96 / 96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BD031-65D9-4527-851E-2CD529BD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67325"/>
            <a:ext cx="15811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dates with positive rank IC</a:t>
            </a:r>
          </a:p>
          <a:p xmlns:a="http://schemas.openxmlformats.org/drawingml/2006/main">
            <a:pPr algn="l">
              <a:def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mean 0.8466 · worst 0.7471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4926C-FF9C-465E-B0D6-687B26E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33975"/>
            <a:ext cx="3810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AED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07F6A-062C-4F8E-9522-077E363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67325"/>
            <a:ext cx="1390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A5D19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8A5D19"/>
                </a:solidFill>
                <a:latin typeface="Avenir Next"/>
                <a:ea typeface="Avenir Next"/>
                <a:cs typeface="Avenir Next"/>
              </a:rPr>
              <a:t>−0.302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2EEA6-7B4F-4A3D-8237-9F0B4866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149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955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9551E"/>
                </a:solidFill>
                <a:latin typeface="Avenir Next"/>
                <a:ea typeface="Avenir Next"/>
                <a:cs typeface="Avenir Next"/>
              </a:rPr>
              <a:t>mean lag-one residual correlation</a:t>
            </a:r>
          </a:p>
          <a:p xmlns:a="http://schemas.openxmlformats.org/drawingml/2006/main">
            <a:pPr algn="l">
              <a:defRPr sz="1050" b="0">
                <a:solidFill>
                  <a:srgbClr val="79551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9551E"/>
                </a:solidFill>
                <a:latin typeface="Avenir Next"/>
                <a:ea typeface="Avenir Next"/>
                <a:cs typeface="Avenir Next"/>
              </a:rPr>
              <a:t>within fold and 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F1F42-DFD2-4DF8-88DC-A785FF6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3A943-3142-4326-8544-C40A1B3D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74F6C-D10E-4213-ADDF-A4A96403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6976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8AA80-6DA7-42B7-8840-C02C6C3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F8FF3-81F3-42E1-8705-846071E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SEALED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E4AFE-B57F-4695-A77D-C046FD5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The sealed tail keeps the rule locked, while error rises 30%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5E4E8-7BDA-458F-9E73-F3FC2755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The final stage opens 27 held-out dates once, then refits on every labeled row for delivery.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95300" y="1552575"/>
          <a:ext xmlns:a="http://schemas.openxmlformats.org/drawingml/2006/main" cx="6334125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59b88bcc47442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2A9F2-B19A-4E95-A348-908C167B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3028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57150" tIns="0" rIns="5715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LOCKED RULE · PERSISTENCE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A636-9A51-4605-9144-B0E763E1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764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0.011149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FC62E-849C-46CB-A5FB-1DB29BAC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6289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sealed RMSE on 756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F2B69E-7C70-4D7A-ABD7-98B881E0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33725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8A12E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E8A12E"/>
                </a:solidFill>
                <a:latin typeface="Avenir Next"/>
                <a:ea typeface="Avenir Next"/>
                <a:cs typeface="Avenir Next"/>
              </a:rPr>
              <a:t>+30.3%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AFB6A-0B2F-4F65-90E1-21197561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09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versus pooled OOF 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5D400-53CB-4052-8E26-0C7F7CEB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5C0F8-A9FB-4FAF-B783-F39D320F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A96D7-E55A-4EA9-B993-21D6FBA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276725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Keep persistence as the level-forecast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B62D6-A9C2-4F47-878A-CEC19E1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14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12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EF73A-2441-4E58-9A40-0BD482BC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648200"/>
            <a:ext cx="3676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15242F"/>
                </a:solidFill>
                <a:latin typeface="Avenir Next"/>
                <a:ea typeface="Avenir Next"/>
                <a:cs typeface="Avenir Next"/>
              </a:rPr>
              <a:t>Prioritize future drift and high-volatility periods 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C55F0-C1B2-4AE1-BDEB-B9EF96F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638"/>
          </a:solidFill>
          <a:ln xmlns:a="http://schemas.openxmlformats.org/drawingml/2006/main" w="0">
            <a:noFill/>
          </a:ln>
        </p:spPr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609600" y="5210175"/>
          <a:ext xmlns:a="http://schemas.openxmlformats.org/drawingml/2006/main" cx="10972800" cy="895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409575"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Final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Forecast output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Row alignment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Prediction validity</a:t>
                      </a:r>
                    </a:p>
                  </a:txBody>
                  <a:tcPr marL="91440" marR="91440" marT="45720" marB="45720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4,200 labeled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720 future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Exact sample order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242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Finite and positive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E22013-6631-4B45-906A-90544F69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9645A-6AFC-4E2F-97DC-4480453B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66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Executed notebook results · generated demonstration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793E0-D400-4BF6-96C9-017409D9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61927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eft-accent-09">
            <a:extLst xmlns:a="http://schemas.openxmlformats.org/drawingml/2006/main">
              <a:ext uri="{FF2B5EF4-FFF2-40B4-BE49-F238E27FC236}">
                <a16:creationId xmlns:a16="http://schemas.microsoft.com/office/drawing/2014/main" id="{80550AD2-CDDA-4F9E-AB74-B4543AB6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09">
            <a:extLst xmlns:a="http://schemas.openxmlformats.org/drawingml/2006/main">
              <a:ext uri="{FF2B5EF4-FFF2-40B4-BE49-F238E27FC236}">
                <a16:creationId xmlns:a16="http://schemas.microsoft.com/office/drawing/2014/main" id="{01CDB1A1-7F48-47DB-AA90-7265D008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7A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7A0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section-title-09">
            <a:extLst xmlns:a="http://schemas.openxmlformats.org/drawingml/2006/main">
              <a:ext uri="{FF2B5EF4-FFF2-40B4-BE49-F238E27FC236}">
                <a16:creationId xmlns:a16="http://schemas.microsoft.com/office/drawing/2014/main" id="{FCD345BE-F8BF-4B93-B747-1758FFD8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62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[SECTION TITLE]</a:t>
            </a:r>
          </a:p>
        </p:txBody>
      </p:sp>
      <p:sp>
        <p:nvSpPr>
          <p:cNvPr id="4" name="section-context-09">
            <a:extLst xmlns:a="http://schemas.openxmlformats.org/drawingml/2006/main">
              <a:ext uri="{FF2B5EF4-FFF2-40B4-BE49-F238E27FC236}">
                <a16:creationId xmlns:a16="http://schemas.microsoft.com/office/drawing/2014/main" id="{0E72F424-B3A8-4DFF-921C-A6A7E559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[Optional section context]</a:t>
            </a:r>
          </a:p>
        </p:txBody>
      </p:sp>
      <p:sp>
        <p:nvSpPr>
          <p:cNvPr id="5" name="section-support-09">
            <a:extLst xmlns:a="http://schemas.openxmlformats.org/drawingml/2006/main">
              <a:ext uri="{FF2B5EF4-FFF2-40B4-BE49-F238E27FC236}">
                <a16:creationId xmlns:a16="http://schemas.microsoft.com/office/drawing/2014/main" id="{DB5BCAEB-6700-4249-B5A4-6514026C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90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A"/>
          </a:solidFill>
          <a:ln xmlns:a="http://schemas.openxmlformats.org/drawingml/2006/main" w="11906">
            <a:solidFill>
              <a:srgbClr val="34526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[OPTIONAL SUPPORTING OBJECT]</a:t>
            </a:r>
          </a:p>
        </p:txBody>
      </p:sp>
      <p:sp>
        <p:nvSpPr>
          <p:cNvPr id="6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0D4515A-B093-43B1-830E-D967E1AE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265"/>
          </a:solidFill>
          <a:ln xmlns:a="http://schemas.openxmlformats.org/drawingml/2006/main" w="0">
            <a:noFill/>
          </a:ln>
        </p:spPr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80C59651-4501-4FC6-B9CE-4B028C0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5667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3721C90C-BADC-417C-A78F-6F53C19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0">
            <a:extLst xmlns:a="http://schemas.openxmlformats.org/drawingml/2006/main">
              <a:ext uri="{FF2B5EF4-FFF2-40B4-BE49-F238E27FC236}">
                <a16:creationId xmlns:a16="http://schemas.microsoft.com/office/drawing/2014/main" id="{96F362C1-10E3-40EC-B54D-AACA49D5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FB3C9113-713D-44CB-BD2C-A3D4EEFD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6D04EEFE-2D4B-4F3C-B077-17575FC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998C6AD4-2F27-4E19-8ADC-B9586DB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D9B7D048-2834-4D42-BD8E-F948FD2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kpi-1-10">
            <a:extLst xmlns:a="http://schemas.openxmlformats.org/drawingml/2006/main">
              <a:ext uri="{FF2B5EF4-FFF2-40B4-BE49-F238E27FC236}">
                <a16:creationId xmlns:a16="http://schemas.microsoft.com/office/drawing/2014/main" id="{769F1DC3-1221-4634-BA68-668A99AD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[KPI 01]</a:t>
            </a:r>
          </a:p>
        </p:txBody>
      </p:sp>
      <p:sp>
        <p:nvSpPr>
          <p:cNvPr id="8" name="kpi-2-10">
            <a:extLst xmlns:a="http://schemas.openxmlformats.org/drawingml/2006/main">
              <a:ext uri="{FF2B5EF4-FFF2-40B4-BE49-F238E27FC236}">
                <a16:creationId xmlns:a16="http://schemas.microsoft.com/office/drawing/2014/main" id="{4AC8E62F-A7AF-42E6-83DF-E6833085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526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11906">
            <a:solidFill>
              <a:srgbClr val="00A7A0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[KPI 02]</a:t>
            </a:r>
          </a:p>
        </p:txBody>
      </p:sp>
      <p:sp>
        <p:nvSpPr>
          <p:cNvPr id="9" name="kpi-3-10">
            <a:extLst xmlns:a="http://schemas.openxmlformats.org/drawingml/2006/main">
              <a:ext uri="{FF2B5EF4-FFF2-40B4-BE49-F238E27FC236}">
                <a16:creationId xmlns:a16="http://schemas.microsoft.com/office/drawing/2014/main" id="{83F22FA2-8C74-482B-9D5A-2A79F915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5260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[KPI 03]</a:t>
            </a:r>
          </a:p>
        </p:txBody>
      </p:sp>
      <p:sp>
        <p:nvSpPr>
          <p:cNvPr id="10" name="summary-body-10">
            <a:extLst xmlns:a="http://schemas.openxmlformats.org/drawingml/2006/main">
              <a:ext uri="{FF2B5EF4-FFF2-40B4-BE49-F238E27FC236}">
                <a16:creationId xmlns:a16="http://schemas.microsoft.com/office/drawing/2014/main" id="{1A5ECA62-1946-44F0-9601-6B89C625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7061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11906">
            <a:solidFill>
              <a:srgbClr val="E4EAED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[EXECUTIVE SUMMARY / KEY MESSAGES]</a:t>
            </a:r>
          </a:p>
        </p:txBody>
      </p:sp>
    </p:spTree>
    <p:extLst>
      <p:ext uri="{BB962C8B-B14F-4D97-AF65-F5344CB8AC3E}">
        <p14:creationId xmlns:p14="http://schemas.microsoft.com/office/powerpoint/2010/main" val="17856427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2EDACF12-7ABB-4D72-9A4A-53DF8171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1">
            <a:extLst xmlns:a="http://schemas.openxmlformats.org/drawingml/2006/main">
              <a:ext uri="{FF2B5EF4-FFF2-40B4-BE49-F238E27FC236}">
                <a16:creationId xmlns:a16="http://schemas.microsoft.com/office/drawing/2014/main" id="{4A714380-53B7-40B2-866A-1E9625B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D4245B3F-EC70-4597-95DD-B2BDE18C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C73CFD4A-23BF-45EC-8A1C-C9ADCDCD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E4182F2-7CFA-4C1C-B539-EB5FFAF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1">
            <a:extLst xmlns:a="http://schemas.openxmlformats.org/drawingml/2006/main">
              <a:ext uri="{FF2B5EF4-FFF2-40B4-BE49-F238E27FC236}">
                <a16:creationId xmlns:a16="http://schemas.microsoft.com/office/drawing/2014/main" id="{4C5F6E5C-BEB3-4FFA-852D-6B504D8D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left-column-label-11">
            <a:extLst xmlns:a="http://schemas.openxmlformats.org/drawingml/2006/main">
              <a:ext uri="{FF2B5EF4-FFF2-40B4-BE49-F238E27FC236}">
                <a16:creationId xmlns:a16="http://schemas.microsoft.com/office/drawing/2014/main" id="{6E1B9298-2177-4D9E-A0C5-FDA6B89B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[LEFT COLUMN LABEL]</a:t>
            </a:r>
          </a:p>
        </p:txBody>
      </p:sp>
      <p:sp>
        <p:nvSpPr>
          <p:cNvPr id="8" name="right-column-label-11">
            <a:extLst xmlns:a="http://schemas.openxmlformats.org/drawingml/2006/main">
              <a:ext uri="{FF2B5EF4-FFF2-40B4-BE49-F238E27FC236}">
                <a16:creationId xmlns:a16="http://schemas.microsoft.com/office/drawing/2014/main" id="{6A7E06CB-98F0-4A9A-955C-FEE9C0F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[RIGHT COLUMN LABEL]</a:t>
            </a:r>
          </a:p>
        </p:txBody>
      </p:sp>
      <p:sp>
        <p:nvSpPr>
          <p:cNvPr id="9" name="comparison-picture-11">
            <a:extLst xmlns:a="http://schemas.openxmlformats.org/drawingml/2006/main">
              <a:ext uri="{FF2B5EF4-FFF2-40B4-BE49-F238E27FC236}">
                <a16:creationId xmlns:a16="http://schemas.microsoft.com/office/drawing/2014/main" id="{CBCCE468-CAC4-45B7-BFBF-4C47651F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[PICTURE / DIAGRAM]</a:t>
            </a:r>
          </a:p>
        </p:txBody>
      </p:sp>
      <p:sp>
        <p:nvSpPr>
          <p:cNvPr id="10" name="comparison-divider-11">
            <a:extLst xmlns:a="http://schemas.openxmlformats.org/drawingml/2006/main">
              <a:ext uri="{FF2B5EF4-FFF2-40B4-BE49-F238E27FC236}">
                <a16:creationId xmlns:a16="http://schemas.microsoft.com/office/drawing/2014/main" id="{C727DF1E-41EC-4799-8342-D1878FC2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952625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0">
            <a:noFill/>
          </a:ln>
        </p:spPr>
      </p:sp>
      <p:sp>
        <p:nvSpPr>
          <p:cNvPr id="11" name="comparison-content-11">
            <a:extLst xmlns:a="http://schemas.openxmlformats.org/drawingml/2006/main">
              <a:ext uri="{FF2B5EF4-FFF2-40B4-BE49-F238E27FC236}">
                <a16:creationId xmlns:a16="http://schemas.microsoft.com/office/drawing/2014/main" id="{88C51332-5DD8-4754-9513-F7DA25D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9775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[COMPARISON TEXT / EVIDENCE]</a:t>
            </a:r>
          </a:p>
        </p:txBody>
      </p:sp>
    </p:spTree>
    <p:extLst>
      <p:ext uri="{BB962C8B-B14F-4D97-AF65-F5344CB8AC3E}">
        <p14:creationId xmlns:p14="http://schemas.microsoft.com/office/powerpoint/2010/main" val="15555504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E47D9201-4E94-4E97-9478-F7B0DFC3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2">
            <a:extLst xmlns:a="http://schemas.openxmlformats.org/drawingml/2006/main">
              <a:ext uri="{FF2B5EF4-FFF2-40B4-BE49-F238E27FC236}">
                <a16:creationId xmlns:a16="http://schemas.microsoft.com/office/drawing/2014/main" id="{09BD38B2-1EA4-499B-84FC-745FEE90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CA39A009-C5C6-4AB3-AD75-AE094A4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CFDEE49D-75E0-4E61-AE75-791F21F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2DDB7B7E-EA4D-4FC5-ADD8-572C49B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2">
            <a:extLst xmlns:a="http://schemas.openxmlformats.org/drawingml/2006/main">
              <a:ext uri="{FF2B5EF4-FFF2-40B4-BE49-F238E27FC236}">
                <a16:creationId xmlns:a16="http://schemas.microsoft.com/office/drawing/2014/main" id="{400651CF-5135-4446-A9F0-D36B5319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primary-chart-12">
            <a:extLst xmlns:a="http://schemas.openxmlformats.org/drawingml/2006/main">
              <a:ext uri="{FF2B5EF4-FFF2-40B4-BE49-F238E27FC236}">
                <a16:creationId xmlns:a16="http://schemas.microsoft.com/office/drawing/2014/main" id="{A20DCC82-DE5D-4542-8A42-191718FD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8105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[PRIMARY CHART]</a:t>
            </a:r>
          </a:p>
        </p:txBody>
      </p:sp>
      <p:sp>
        <p:nvSpPr>
          <p:cNvPr id="8" name="insight-sidebar-12">
            <a:extLst xmlns:a="http://schemas.openxmlformats.org/drawingml/2006/main">
              <a:ext uri="{FF2B5EF4-FFF2-40B4-BE49-F238E27FC236}">
                <a16:creationId xmlns:a16="http://schemas.microsoft.com/office/drawing/2014/main" id="{0D9C17F1-2E22-48FB-92D9-36D3C614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8194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11906">
            <a:solidFill>
              <a:srgbClr val="00A7A0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[INSIGHT / ANNOTATION]</a:t>
            </a:r>
          </a:p>
        </p:txBody>
      </p:sp>
    </p:spTree>
    <p:extLst>
      <p:ext uri="{BB962C8B-B14F-4D97-AF65-F5344CB8AC3E}">
        <p14:creationId xmlns:p14="http://schemas.microsoft.com/office/powerpoint/2010/main" val="16877421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13">
            <a:extLst xmlns:a="http://schemas.openxmlformats.org/drawingml/2006/main">
              <a:ext uri="{FF2B5EF4-FFF2-40B4-BE49-F238E27FC236}">
                <a16:creationId xmlns:a16="http://schemas.microsoft.com/office/drawing/2014/main" id="{9A8490D5-F53B-46AD-AD72-AC9988D0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3">
            <a:extLst xmlns:a="http://schemas.openxmlformats.org/drawingml/2006/main">
              <a:ext uri="{FF2B5EF4-FFF2-40B4-BE49-F238E27FC236}">
                <a16:creationId xmlns:a16="http://schemas.microsoft.com/office/drawing/2014/main" id="{8345AF41-0925-45BA-8584-061B3A3E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D002AD80-6793-497B-8AC9-63DA9C3E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E669F6C0-F9AD-4827-9E09-3445CD9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2C0D6E2F-94A2-4A6B-AC6B-903508C1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3">
            <a:extLst xmlns:a="http://schemas.openxmlformats.org/drawingml/2006/main">
              <a:ext uri="{FF2B5EF4-FFF2-40B4-BE49-F238E27FC236}">
                <a16:creationId xmlns:a16="http://schemas.microsoft.com/office/drawing/2014/main" id="{5E9EDAF1-3C1E-46AA-A5D3-535A6BE8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7" name="wide-chart-13">
            <a:extLst xmlns:a="http://schemas.openxmlformats.org/drawingml/2006/main">
              <a:ext uri="{FF2B5EF4-FFF2-40B4-BE49-F238E27FC236}">
                <a16:creationId xmlns:a16="http://schemas.microsoft.com/office/drawing/2014/main" id="{2D9C4EBE-FE7C-40A2-A2E7-E9AC69B5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[FULL-WIDTH CHART]</a:t>
            </a:r>
          </a:p>
        </p:txBody>
      </p:sp>
      <p:sp>
        <p:nvSpPr>
          <p:cNvPr id="8" name="chart-note-1-13">
            <a:extLst xmlns:a="http://schemas.openxmlformats.org/drawingml/2006/main">
              <a:ext uri="{FF2B5EF4-FFF2-40B4-BE49-F238E27FC236}">
                <a16:creationId xmlns:a16="http://schemas.microsoft.com/office/drawing/2014/main" id="{93B43250-45EC-418E-A63D-F71A097A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3448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11906">
            <a:solidFill>
              <a:srgbClr val="E4EAED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[ANNOTATION 01]</a:t>
            </a:r>
          </a:p>
        </p:txBody>
      </p:sp>
      <p:sp>
        <p:nvSpPr>
          <p:cNvPr id="9" name="chart-note-2-13">
            <a:extLst xmlns:a="http://schemas.openxmlformats.org/drawingml/2006/main">
              <a:ext uri="{FF2B5EF4-FFF2-40B4-BE49-F238E27FC236}">
                <a16:creationId xmlns:a16="http://schemas.microsoft.com/office/drawing/2014/main" id="{59095F34-EF40-4586-BB9C-3A95C191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105400"/>
            <a:ext cx="3448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11906">
            <a:solidFill>
              <a:srgbClr val="E4EAED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[ANNOTATION 02]</a:t>
            </a:r>
          </a:p>
        </p:txBody>
      </p:sp>
      <p:sp>
        <p:nvSpPr>
          <p:cNvPr id="10" name="chart-note-3-13">
            <a:extLst xmlns:a="http://schemas.openxmlformats.org/drawingml/2006/main">
              <a:ext uri="{FF2B5EF4-FFF2-40B4-BE49-F238E27FC236}">
                <a16:creationId xmlns:a16="http://schemas.microsoft.com/office/drawing/2014/main" id="{1328C4B5-3C7B-4B0B-B697-D85207E6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05400"/>
            <a:ext cx="34480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D8"/>
          </a:solidFill>
          <a:ln xmlns:a="http://schemas.openxmlformats.org/drawingml/2006/main" w="11906">
            <a:solidFill>
              <a:srgbClr val="EAA126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5D1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8A5D19"/>
                </a:solidFill>
                <a:latin typeface="Avenir Next"/>
                <a:ea typeface="Avenir Next"/>
                <a:cs typeface="Avenir Next"/>
              </a:rPr>
              <a:t>[ANNOTATION 03]</a:t>
            </a:r>
          </a:p>
        </p:txBody>
      </p:sp>
    </p:spTree>
    <p:extLst>
      <p:ext uri="{BB962C8B-B14F-4D97-AF65-F5344CB8AC3E}">
        <p14:creationId xmlns:p14="http://schemas.microsoft.com/office/powerpoint/2010/main" val="106394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accent-14">
            <a:extLst xmlns:a="http://schemas.openxmlformats.org/drawingml/2006/main">
              <a:ext uri="{FF2B5EF4-FFF2-40B4-BE49-F238E27FC236}">
                <a16:creationId xmlns:a16="http://schemas.microsoft.com/office/drawing/2014/main" id="{3D3431BB-FD47-443E-AD8E-1F5B4664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4">
            <a:extLst xmlns:a="http://schemas.openxmlformats.org/drawingml/2006/main">
              <a:ext uri="{FF2B5EF4-FFF2-40B4-BE49-F238E27FC236}">
                <a16:creationId xmlns:a16="http://schemas.microsoft.com/office/drawing/2014/main" id="{D818746D-8CB9-45B6-B1E5-A450E30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75268676-E9A6-4C27-ACE4-BBF9E95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CDE55988-513F-49F2-A318-B5F61AB6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FE90973A-27EF-4F59-9EBC-D3B03C60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4">
            <a:extLst xmlns:a="http://schemas.openxmlformats.org/drawingml/2006/main">
              <a:ext uri="{FF2B5EF4-FFF2-40B4-BE49-F238E27FC236}">
                <a16:creationId xmlns:a16="http://schemas.microsoft.com/office/drawing/2014/main" id="{BCD3549B-ADCF-4FEB-9CC1-94B33B0C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7" name="quadrant-picture-14">
            <a:extLst xmlns:a="http://schemas.openxmlformats.org/drawingml/2006/main">
              <a:ext uri="{FF2B5EF4-FFF2-40B4-BE49-F238E27FC236}">
                <a16:creationId xmlns:a16="http://schemas.microsoft.com/office/drawing/2014/main" id="{92B8C219-790D-4410-B7C0-7634399E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19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[PICTURE]</a:t>
            </a:r>
          </a:p>
        </p:txBody>
      </p:sp>
      <p:sp>
        <p:nvSpPr>
          <p:cNvPr id="8" name="quadrant-chart-14">
            <a:extLst xmlns:a="http://schemas.openxmlformats.org/drawingml/2006/main">
              <a:ext uri="{FF2B5EF4-FFF2-40B4-BE49-F238E27FC236}">
                <a16:creationId xmlns:a16="http://schemas.microsoft.com/office/drawing/2014/main" id="{88A8662B-A546-4E9A-B645-2872060F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219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[CHART]</a:t>
            </a:r>
          </a:p>
        </p:txBody>
      </p:sp>
      <p:sp>
        <p:nvSpPr>
          <p:cNvPr id="9" name="quadrant-table-14">
            <a:extLst xmlns:a="http://schemas.openxmlformats.org/drawingml/2006/main">
              <a:ext uri="{FF2B5EF4-FFF2-40B4-BE49-F238E27FC236}">
                <a16:creationId xmlns:a16="http://schemas.microsoft.com/office/drawing/2014/main" id="{30027B1D-C2A8-4CAA-A977-DE63A79D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19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[TABLE]</a:t>
            </a:r>
          </a:p>
        </p:txBody>
      </p:sp>
      <p:sp>
        <p:nvSpPr>
          <p:cNvPr id="10" name="quadrant-text-14">
            <a:extLst xmlns:a="http://schemas.openxmlformats.org/drawingml/2006/main">
              <a:ext uri="{FF2B5EF4-FFF2-40B4-BE49-F238E27FC236}">
                <a16:creationId xmlns:a16="http://schemas.microsoft.com/office/drawing/2014/main" id="{3BCE3A34-A667-4119-AB66-EF9B650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52197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11906">
            <a:solidFill>
              <a:srgbClr val="00A7A0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[BODY / COMMENTARY]</a:t>
            </a:r>
          </a:p>
        </p:txBody>
      </p:sp>
    </p:spTree>
    <p:extLst>
      <p:ext uri="{BB962C8B-B14F-4D97-AF65-F5344CB8AC3E}">
        <p14:creationId xmlns:p14="http://schemas.microsoft.com/office/powerpoint/2010/main" val="9619660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accent-15">
            <a:extLst xmlns:a="http://schemas.openxmlformats.org/drawingml/2006/main">
              <a:ext uri="{FF2B5EF4-FFF2-40B4-BE49-F238E27FC236}">
                <a16:creationId xmlns:a16="http://schemas.microsoft.com/office/drawing/2014/main" id="{689CF8E6-B279-4CAC-98AA-BC8B4722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section-label-15">
            <a:extLst xmlns:a="http://schemas.openxmlformats.org/drawingml/2006/main">
              <a:ext uri="{FF2B5EF4-FFF2-40B4-BE49-F238E27FC236}">
                <a16:creationId xmlns:a16="http://schemas.microsoft.com/office/drawing/2014/main" id="{08497E3C-18B2-4470-8709-A5A1A0F5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[SECTION LABEL]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4A81615A-3C6E-4A16-BBA1-9FA8C13E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defRPr>
            </a:pPr>
            <a:r>
              <a:rPr sz="2625" b="1">
                <a:solidFill>
                  <a:srgbClr val="102638"/>
                </a:solidFill>
                <a:latin typeface="Avenir Next"/>
                <a:ea typeface="Avenir Next"/>
                <a:cs typeface="Avenir Next"/>
              </a:rPr>
              <a:t>[SLIDE TITLE]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02422C3F-0484-4DF6-A074-C447D1B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[Subtitle or context]</a:t>
            </a:r>
          </a:p>
        </p:txBody>
      </p:sp>
      <p:sp>
        <p:nvSpPr>
          <p:cNvPr id="5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8DC45E16-5AC2-4F6B-BB87-3A230A0F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D"/>
          </a:solidFill>
          <a:ln xmlns:a="http://schemas.openxmlformats.org/drawingml/2006/main" w="0">
            <a:noFill/>
          </a:ln>
        </p:spPr>
      </p:sp>
      <p:sp>
        <p:nvSpPr>
          <p:cNvPr id="6" name="page-15">
            <a:extLst xmlns:a="http://schemas.openxmlformats.org/drawingml/2006/main">
              <a:ext uri="{FF2B5EF4-FFF2-40B4-BE49-F238E27FC236}">
                <a16:creationId xmlns:a16="http://schemas.microsoft.com/office/drawing/2014/main" id="{2904C22F-852A-4BF4-BE53-0C64A4ED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7" name="main-table-15">
            <a:extLst xmlns:a="http://schemas.openxmlformats.org/drawingml/2006/main">
              <a:ext uri="{FF2B5EF4-FFF2-40B4-BE49-F238E27FC236}">
                <a16:creationId xmlns:a16="http://schemas.microsoft.com/office/drawing/2014/main" id="{54C24672-0491-405D-83DF-790AC27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52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5CB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71818D"/>
                </a:solidFill>
                <a:latin typeface="Avenir Next"/>
                <a:ea typeface="Avenir Next"/>
                <a:cs typeface="Avenir Next"/>
              </a:rPr>
              <a:t>[EDITABLE TABLE]</a:t>
            </a:r>
          </a:p>
        </p:txBody>
      </p:sp>
      <p:sp>
        <p:nvSpPr>
          <p:cNvPr id="8" name="table-commentary-15">
            <a:extLst xmlns:a="http://schemas.openxmlformats.org/drawingml/2006/main">
              <a:ext uri="{FF2B5EF4-FFF2-40B4-BE49-F238E27FC236}">
                <a16:creationId xmlns:a16="http://schemas.microsoft.com/office/drawing/2014/main" id="{103C35CE-4151-4071-A724-6AE165CA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33550"/>
            <a:ext cx="3105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5"/>
          </a:solidFill>
          <a:ln xmlns:a="http://schemas.openxmlformats.org/drawingml/2006/main" w="11906">
            <a:solidFill>
              <a:srgbClr val="E4EAED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E6170"/>
                </a:solidFill>
                <a:latin typeface="Avenir Next"/>
                <a:ea typeface="Avenir Next"/>
                <a:cs typeface="Avenir Next"/>
              </a:rPr>
              <a:t>[COMMENTARY / DECISION]</a:t>
            </a:r>
          </a:p>
        </p:txBody>
      </p:sp>
    </p:spTree>
    <p:extLst>
      <p:ext uri="{BB962C8B-B14F-4D97-AF65-F5344CB8AC3E}">
        <p14:creationId xmlns:p14="http://schemas.microsoft.com/office/powerpoint/2010/main" val="13374212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ing-left-accent-16">
            <a:extLst xmlns:a="http://schemas.openxmlformats.org/drawingml/2006/main">
              <a:ext uri="{FF2B5EF4-FFF2-40B4-BE49-F238E27FC236}">
                <a16:creationId xmlns:a16="http://schemas.microsoft.com/office/drawing/2014/main" id="{3969ECF3-1CFA-47B1-920B-D789744C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7A0"/>
          </a:solidFill>
          <a:ln xmlns:a="http://schemas.openxmlformats.org/drawingml/2006/main" w="0">
            <a:noFill/>
          </a:ln>
        </p:spPr>
      </p:sp>
      <p:sp>
        <p:nvSpPr>
          <p:cNvPr id="2" name="closing-label-16">
            <a:extLst xmlns:a="http://schemas.openxmlformats.org/drawingml/2006/main">
              <a:ext uri="{FF2B5EF4-FFF2-40B4-BE49-F238E27FC236}">
                <a16:creationId xmlns:a16="http://schemas.microsoft.com/office/drawing/2014/main" id="{02042581-42B6-4A40-961A-B137AFC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A7A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0A7A0"/>
                </a:solidFill>
                <a:latin typeface="Avenir Next"/>
                <a:ea typeface="Avenir Next"/>
                <a:cs typeface="Avenir Next"/>
              </a:rPr>
              <a:t>[CLOSING LABEL]</a:t>
            </a:r>
          </a:p>
        </p:txBody>
      </p:sp>
      <p:sp>
        <p:nvSpPr>
          <p:cNvPr id="3" name="closing-title-16">
            <a:extLst xmlns:a="http://schemas.openxmlformats.org/drawingml/2006/main">
              <a:ext uri="{FF2B5EF4-FFF2-40B4-BE49-F238E27FC236}">
                <a16:creationId xmlns:a16="http://schemas.microsoft.com/office/drawing/2014/main" id="{0161A030-09BD-4CFA-BE4F-BC76488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0125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[CLOSING TITLE]</a:t>
            </a:r>
          </a:p>
        </p:txBody>
      </p:sp>
      <p:sp>
        <p:nvSpPr>
          <p:cNvPr id="4" name="closing-logo-16">
            <a:extLst xmlns:a="http://schemas.openxmlformats.org/drawingml/2006/main">
              <a:ext uri="{FF2B5EF4-FFF2-40B4-BE49-F238E27FC236}">
                <a16:creationId xmlns:a16="http://schemas.microsoft.com/office/drawing/2014/main" id="{34481148-24C0-4409-82E7-8268B5F8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23900"/>
            <a:ext cx="140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A"/>
          </a:solidFill>
          <a:ln xmlns:a="http://schemas.openxmlformats.org/drawingml/2006/main" w="11906">
            <a:solidFill>
              <a:srgbClr val="34526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[LOGO]</a:t>
            </a:r>
          </a:p>
        </p:txBody>
      </p:sp>
      <p:sp>
        <p:nvSpPr>
          <p:cNvPr id="5" name="closing-takeaway-16">
            <a:extLst xmlns:a="http://schemas.openxmlformats.org/drawingml/2006/main">
              <a:ext uri="{FF2B5EF4-FFF2-40B4-BE49-F238E27FC236}">
                <a16:creationId xmlns:a16="http://schemas.microsoft.com/office/drawing/2014/main" id="{816190A4-9A0A-4C17-ABE3-DBFF5E8D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066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A"/>
          </a:solidFill>
          <a:ln xmlns:a="http://schemas.openxmlformats.org/drawingml/2006/main" w="11906">
            <a:solidFill>
              <a:srgbClr val="34526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[KEY TAKEAWAY]</a:t>
            </a:r>
          </a:p>
        </p:txBody>
      </p:sp>
      <p:sp>
        <p:nvSpPr>
          <p:cNvPr id="6" name="next-step-1-16">
            <a:extLst xmlns:a="http://schemas.openxmlformats.org/drawingml/2006/main">
              <a:ext uri="{FF2B5EF4-FFF2-40B4-BE49-F238E27FC236}">
                <a16:creationId xmlns:a16="http://schemas.microsoft.com/office/drawing/2014/main" id="{41A4CFAA-65F7-4B6F-9B21-44E65B3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3352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0"/>
          </a:solidFill>
          <a:ln xmlns:a="http://schemas.openxmlformats.org/drawingml/2006/main" w="11906">
            <a:solidFill>
              <a:srgbClr val="00A7A0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D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87D79"/>
                </a:solidFill>
                <a:latin typeface="Avenir Next"/>
                <a:ea typeface="Avenir Next"/>
                <a:cs typeface="Avenir Next"/>
              </a:rPr>
              <a:t>[NEXT STEP 01]</a:t>
            </a:r>
          </a:p>
        </p:txBody>
      </p:sp>
      <p:sp>
        <p:nvSpPr>
          <p:cNvPr id="7" name="next-step-2-16">
            <a:extLst xmlns:a="http://schemas.openxmlformats.org/drawingml/2006/main">
              <a:ext uri="{FF2B5EF4-FFF2-40B4-BE49-F238E27FC236}">
                <a16:creationId xmlns:a16="http://schemas.microsoft.com/office/drawing/2014/main" id="{B2210B93-C0E9-4274-A098-5B7B3F3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86150"/>
            <a:ext cx="3352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A"/>
          </a:solidFill>
          <a:ln xmlns:a="http://schemas.openxmlformats.org/drawingml/2006/main" w="11906">
            <a:solidFill>
              <a:srgbClr val="34526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[NEXT STEP 02]</a:t>
            </a:r>
          </a:p>
        </p:txBody>
      </p:sp>
      <p:sp>
        <p:nvSpPr>
          <p:cNvPr id="8" name="next-step-3-16">
            <a:extLst xmlns:a="http://schemas.openxmlformats.org/drawingml/2006/main">
              <a:ext uri="{FF2B5EF4-FFF2-40B4-BE49-F238E27FC236}">
                <a16:creationId xmlns:a16="http://schemas.microsoft.com/office/drawing/2014/main" id="{BFE7AAF5-3244-43F7-82C6-AAE35306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3352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A"/>
          </a:solidFill>
          <a:ln xmlns:a="http://schemas.openxmlformats.org/drawingml/2006/main" w="11906">
            <a:solidFill>
              <a:srgbClr val="345265"/>
            </a:solidFill>
            <a:prstDash val="solid"/>
          </a:ln>
        </p:spPr>
        <p:txBody>
          <a:bodyPr xmlns:a="http://schemas.openxmlformats.org/drawingml/2006/main" lIns="114300" tIns="114300" rIns="1143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[NEXT STEP 03]</a:t>
            </a:r>
          </a:p>
        </p:txBody>
      </p:sp>
      <p:sp>
        <p:nvSpPr>
          <p:cNvPr id="9" name="closing-contact-16">
            <a:extLst xmlns:a="http://schemas.openxmlformats.org/drawingml/2006/main">
              <a:ext uri="{FF2B5EF4-FFF2-40B4-BE49-F238E27FC236}">
                <a16:creationId xmlns:a16="http://schemas.microsoft.com/office/drawing/2014/main" id="{226A91A1-0359-4A7E-A2E9-BE9F2FD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[OWNER / CONTACT / DATE]</a:t>
            </a:r>
          </a:p>
        </p:txBody>
      </p:sp>
      <p:sp>
        <p:nvSpPr>
          <p:cNvPr id="10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0E238EB8-9FF9-44FA-9600-B767E2B1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265"/>
          </a:solidFill>
          <a:ln xmlns:a="http://schemas.openxmlformats.org/drawingml/2006/main" w="0">
            <a:noFill/>
          </a:ln>
        </p:spPr>
      </p:sp>
      <p:sp>
        <p:nvSpPr>
          <p:cNvPr id="11" name="page-16">
            <a:extLst xmlns:a="http://schemas.openxmlformats.org/drawingml/2006/main">
              <a:ext uri="{FF2B5EF4-FFF2-40B4-BE49-F238E27FC236}">
                <a16:creationId xmlns:a16="http://schemas.microsoft.com/office/drawing/2014/main" id="{1E4D0E14-109E-4A83-909F-E2DF922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C7D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B8C7D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2590703"/>
      </p:ext>
    </p:extLst>
  </p:cSld>
</p:sld>
</file>

<file path=ppt/theme/theme1.xml><?xml version="1.0" encoding="utf-8"?>
<a:theme xmlns:a="http://schemas.openxmlformats.org/drawingml/2006/main" name="ChatGPT">
  <a:themeElements>
    <a:clrScheme name="Volatility Research">
      <a:dk1>
        <a:srgbClr val="000000"/>
      </a:dk1>
      <a:lt1>
        <a:srgbClr val="FFFFFF"/>
      </a:lt1>
      <a:dk2>
        <a:srgbClr val="102638"/>
      </a:dk2>
      <a:lt2>
        <a:srgbClr val="E4EAED"/>
      </a:lt2>
      <a:accent1>
        <a:srgbClr val="00A7A0"/>
      </a:accent1>
      <a:accent2>
        <a:srgbClr val="517EA5"/>
      </a:accent2>
      <a:accent3>
        <a:srgbClr val="E8A12E"/>
      </a:accent3>
      <a:accent4>
        <a:srgbClr val="D86055"/>
      </a:accent4>
      <a:accent5>
        <a:srgbClr val="7667A8"/>
      </a:accent5>
      <a:accent6>
        <a:srgbClr val="087D79"/>
      </a:accent6>
      <a:hlink>
        <a:srgbClr val="517EA5"/>
      </a:hlink>
      <a:folHlink>
        <a:srgbClr val="7667A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Volatility Researc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2026-09-10T04:29:16.7430000Z</dcterms:created>
  <dcterms:modified xsi:type="dcterms:W3CDTF">2026-09-10T04:29:16.7430000Z</dcterms:modified>
</coreProperties>
</file>