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6.xml" ContentType="application/vnd.openxmlformats-officedocument.drawingml.chart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c6331f88e74c9e" /><Relationship Type="http://schemas.openxmlformats.org/officeDocument/2006/relationships/extended-properties" Target="/docProps/app.xml" Id="Rad3cfad1f12f4c96" /><Relationship Type="http://schemas.openxmlformats.org/officeDocument/2006/relationships/officeDocument" Target="/ppt/presentation.xml" Id="R599d0893520c45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ed27d5c6b147c1"/>
  </p:sldMasterIdLst>
  <p:notesMasterIdLst>
    <p:notesMasterId xmlns:r="http://schemas.openxmlformats.org/officeDocument/2006/relationships" r:id="Ra9c85e99f0a74673"/>
  </p:notesMasterIdLst>
  <p:sldIdLst>
    <p:sldId xmlns:r="http://schemas.openxmlformats.org/officeDocument/2006/relationships" id="256" r:id="Re866a2ed8ccf4939"/>
    <p:sldId xmlns:r="http://schemas.openxmlformats.org/officeDocument/2006/relationships" id="257" r:id="R2924d74779aa4855"/>
    <p:sldId xmlns:r="http://schemas.openxmlformats.org/officeDocument/2006/relationships" id="258" r:id="Rc087e12ea4c6459f"/>
    <p:sldId xmlns:r="http://schemas.openxmlformats.org/officeDocument/2006/relationships" id="259" r:id="Rba4215ecf7104dbc"/>
    <p:sldId xmlns:r="http://schemas.openxmlformats.org/officeDocument/2006/relationships" id="260" r:id="R1f3e41e19ae742d0"/>
    <p:sldId xmlns:r="http://schemas.openxmlformats.org/officeDocument/2006/relationships" id="261" r:id="Ra7617904d2c5494d"/>
    <p:sldId xmlns:r="http://schemas.openxmlformats.org/officeDocument/2006/relationships" id="262" r:id="R7e23a7d0390f4b6d"/>
    <p:sldId xmlns:r="http://schemas.openxmlformats.org/officeDocument/2006/relationships" id="263" r:id="Rb9e5cdece83043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16aec5d35940d8" /><Relationship Type="http://schemas.openxmlformats.org/officeDocument/2006/relationships/slideMaster" Target="/ppt/slideMasters/slideMaster1.xml" Id="R7ced27d5c6b147c1" /><Relationship Type="http://schemas.openxmlformats.org/officeDocument/2006/relationships/notesMaster" Target="/ppt/notesMasters/notesMaster1.xml" Id="Ra9c85e99f0a74673" /><Relationship Type="http://schemas.openxmlformats.org/officeDocument/2006/relationships/presProps" Target="/ppt/presProps.xml" Id="R2b075bc9c8544053" /><Relationship Type="http://schemas.openxmlformats.org/officeDocument/2006/relationships/tableStyles" Target="/ppt/tableStyles.xml" Id="R16e208ece0b44041" /><Relationship Type="http://schemas.openxmlformats.org/officeDocument/2006/relationships/slide" Target="/ppt/slides/slide1.xml" Id="Re866a2ed8ccf4939" /><Relationship Type="http://schemas.openxmlformats.org/officeDocument/2006/relationships/slide" Target="/ppt/slides/slide2.xml" Id="R2924d74779aa4855" /><Relationship Type="http://schemas.openxmlformats.org/officeDocument/2006/relationships/slide" Target="/ppt/slides/slide3.xml" Id="Rc087e12ea4c6459f" /><Relationship Type="http://schemas.openxmlformats.org/officeDocument/2006/relationships/slide" Target="/ppt/slides/slide4.xml" Id="Rba4215ecf7104dbc" /><Relationship Type="http://schemas.openxmlformats.org/officeDocument/2006/relationships/slide" Target="/ppt/slides/slide5.xml" Id="R1f3e41e19ae742d0" /><Relationship Type="http://schemas.openxmlformats.org/officeDocument/2006/relationships/slide" Target="/ppt/slides/slide6.xml" Id="Ra7617904d2c5494d" /><Relationship Type="http://schemas.openxmlformats.org/officeDocument/2006/relationships/slide" Target="/ppt/slides/slide7.xml" Id="R7e23a7d0390f4b6d" /><Relationship Type="http://schemas.openxmlformats.org/officeDocument/2006/relationships/slide" Target="/ppt/slides/slide8.xml" Id="Rb9e5cdece83043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cc47c5ea5d042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Volatility Research">
      <a:dk1>
        <a:srgbClr val="000000"/>
      </a:dk1>
      <a:lt1>
        <a:srgbClr val="FFFFFF"/>
      </a:lt1>
      <a:dk2>
        <a:srgbClr val="102638"/>
      </a:dk2>
      <a:lt2>
        <a:srgbClr val="E4EAED"/>
      </a:lt2>
      <a:accent1>
        <a:srgbClr val="00A7A0"/>
      </a:accent1>
      <a:accent2>
        <a:srgbClr val="517EA5"/>
      </a:accent2>
      <a:accent3>
        <a:srgbClr val="E8A12E"/>
      </a:accent3>
      <a:accent4>
        <a:srgbClr val="D86055"/>
      </a:accent4>
      <a:accent5>
        <a:srgbClr val="7667A8"/>
      </a:accent5>
      <a:accent6>
        <a:srgbClr val="087D79"/>
      </a:accent6>
      <a:hlink>
        <a:srgbClr val="517EA5"/>
      </a:hlink>
      <a:folHlink>
        <a:srgbClr val="7667A8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Volatility Research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2f6d18cdfb4195" /><Relationship Type="http://schemas.openxmlformats.org/officeDocument/2006/relationships/notesMaster" Target="/ppt/notesMasters/notesMaster1.xml" Id="R8bbc9c507d4448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623865500d463c" /><Relationship Type="http://schemas.openxmlformats.org/officeDocument/2006/relationships/notesMaster" Target="/ppt/notesMasters/notesMaster1.xml" Id="Rbbe7de27059245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05ab50027142a6" /><Relationship Type="http://schemas.openxmlformats.org/officeDocument/2006/relationships/notesMaster" Target="/ppt/notesMasters/notesMaster1.xml" Id="R4eaa9bfef31945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70bd3d34b743dd" /><Relationship Type="http://schemas.openxmlformats.org/officeDocument/2006/relationships/notesMaster" Target="/ppt/notesMasters/notesMaster1.xml" Id="R11c3e43304db47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0efcb7ec61463e" /><Relationship Type="http://schemas.openxmlformats.org/officeDocument/2006/relationships/notesMaster" Target="/ppt/notesMasters/notesMaster1.xml" Id="R95d280a1632d4c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beca5191c14a61" /><Relationship Type="http://schemas.openxmlformats.org/officeDocument/2006/relationships/notesMaster" Target="/ppt/notesMasters/notesMaster1.xml" Id="R76d1edbe3f8b4b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4d5fb13ee84b71" /><Relationship Type="http://schemas.openxmlformats.org/officeDocument/2006/relationships/notesMaster" Target="/ppt/notesMasters/notesMaster1.xml" Id="R2062f8447c9247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c831f1aa7a45de" /><Relationship Type="http://schemas.openxmlformats.org/officeDocument/2006/relationships/notesMaster" Target="/ppt/notesMasters/notesMaster1.xml" Id="R8cffda51a68f4f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volatility_project_04_complete_panel_pipeline.ipynb, stored executed outputs. All numerical results use generated demonstration data. Cover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volatility_project_04_complete_panel_pipeline.ipynb, stored executed outputs. All numerical results use generated demonstration data. Input shapes and panel scope are taken directly from the executed demo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volatility_project_04_complete_panel_pipeline.ipynb, stored executed outputs. All numerical results use generated demonstration data. The raw health report found 34 missing train volume values and seven infinite option-skew values in future rows.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volatility_project_04_complete_panel_pipeline.ipynb, stored executed outputs. All numerical results use generated demonstration data. The chart rebuilds the top standardized train-to-future mean shifts from the stored drift 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volatility_project_04_complete_panel_pipeline.ipynb, stored executed outputs. All numerical results use generated demonstration data. Training dates after the one-date purge are 25, 49, 73 and 97. Each validation block contains 24 dates and 672 rows.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volatility_project_04_complete_panel_pipeline.ipynb, stored executed outputs. All numerical results use generated demonstration data. All six candidates use the same 2,688 OOF rows. Selection is locked to pooled OOF RMSE.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volatility_project_04_complete_panel_pipeline.ipynb, stored executed outputs. All numerical results use generated demonstration data. High-regime MAE is 0.008943 versus 0.004715 in the low regime. Worst-date RMSE is 0.022426 and p95 absolute error is 0.018151.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volatility_project_04_complete_panel_pipeline.ipynb, stored executed outputs. All numerical results use generated demonstration data. The sealed report is evaluated once after model selection. Final predictions pass row-order, schema, uniqueness, finiteness and positivity checks.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02a86edfe24e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0e860dcdb5463d" /><Relationship Type="http://schemas.openxmlformats.org/officeDocument/2006/relationships/slideLayout" Target="/ppt/slideLayouts/slideLayout1.xml" Id="Rda4784b20fc242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4784b20fc242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Volatility Research">
      <a:dk1>
        <a:srgbClr val="000000"/>
      </a:dk1>
      <a:lt1>
        <a:srgbClr val="FFFFFF"/>
      </a:lt1>
      <a:dk2>
        <a:srgbClr val="102638"/>
      </a:dk2>
      <a:lt2>
        <a:srgbClr val="E4EAED"/>
      </a:lt2>
      <a:accent1>
        <a:srgbClr val="00A7A0"/>
      </a:accent1>
      <a:accent2>
        <a:srgbClr val="517EA5"/>
      </a:accent2>
      <a:accent3>
        <a:srgbClr val="E8A12E"/>
      </a:accent3>
      <a:accent4>
        <a:srgbClr val="D86055"/>
      </a:accent4>
      <a:accent5>
        <a:srgbClr val="7667A8"/>
      </a:accent5>
      <a:accent6>
        <a:srgbClr val="087D79"/>
      </a:accent6>
      <a:hlink>
        <a:srgbClr val="517EA5"/>
      </a:hlink>
      <a:folHlink>
        <a:srgbClr val="7667A8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Volatility Research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fae6798a64dd4" /><Relationship Type="http://schemas.openxmlformats.org/officeDocument/2006/relationships/notesSlide" Target="/ppt/notesSlides/notesSlide1.xml" Id="R5410c673dd6640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f8a80f94a45cf" /><Relationship Type="http://schemas.openxmlformats.org/officeDocument/2006/relationships/notesSlide" Target="/ppt/notesSlides/notesSlide2.xml" Id="Rd727a821ca7143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b1a0de7bcd47e2" /><Relationship Type="http://schemas.openxmlformats.org/officeDocument/2006/relationships/notesSlide" Target="/ppt/notesSlides/notesSlide3.xml" Id="R5f98aaa874ee4a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12b66a14ac4026" /><Relationship Type="http://schemas.openxmlformats.org/officeDocument/2006/relationships/chart" Target="/ppt/slides/charts/chart1.xml" Id="R2dd45d9c8e5e4216" /><Relationship Type="http://schemas.openxmlformats.org/officeDocument/2006/relationships/notesSlide" Target="/ppt/notesSlides/notesSlide4.xml" Id="Reec51f2055764b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9562f07f4b4bcf" /><Relationship Type="http://schemas.openxmlformats.org/officeDocument/2006/relationships/chart" Target="/ppt/slides/charts/chart2.xml" Id="R94663bb9248b4bbb" /><Relationship Type="http://schemas.openxmlformats.org/officeDocument/2006/relationships/notesSlide" Target="/ppt/notesSlides/notesSlide5.xml" Id="Rbd618cf1d17a4c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2b8ff880a401f" /><Relationship Type="http://schemas.openxmlformats.org/officeDocument/2006/relationships/chart" Target="/ppt/slides/charts/chart3.xml" Id="R79288daef4f747b5" /><Relationship Type="http://schemas.openxmlformats.org/officeDocument/2006/relationships/notesSlide" Target="/ppt/notesSlides/notesSlide6.xml" Id="Rac3561b6526140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7ef269161f4636" /><Relationship Type="http://schemas.openxmlformats.org/officeDocument/2006/relationships/chart" Target="/ppt/slides/charts/chart4.xml" Id="R882fabc569c34553" /><Relationship Type="http://schemas.openxmlformats.org/officeDocument/2006/relationships/chart" Target="/ppt/slides/charts/chart5.xml" Id="R6c5468ced69b48af" /><Relationship Type="http://schemas.openxmlformats.org/officeDocument/2006/relationships/notesSlide" Target="/ppt/notesSlides/notesSlide7.xml" Id="Rae5e38d6a0fb42e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5db66b71f4f30" /><Relationship Type="http://schemas.openxmlformats.org/officeDocument/2006/relationships/chart" Target="/ppt/slides/charts/chart6.xml" Id="R1159b88bcc47442b" /><Relationship Type="http://schemas.openxmlformats.org/officeDocument/2006/relationships/notesSlide" Target="/ppt/notesSlides/notesSlide8.xml" Id="Rdb05444212144f5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Largest standardized future mean shifts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 b="1">
              <a:solidFill>
                <a:srgbClr val="102638"/>
              </a:solidFill>
              <a:latin typeface="Avenir Next"/>
              <a:ea typeface="Avenir Next"/>
              <a:cs typeface="Avenir Next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Absolute shift</c:v>
          </c:tx>
          <c:spPr>
            <a:solidFill xmlns:a="http://schemas.openxmlformats.org/drawingml/2006/main">
              <a:srgbClr val="517EA5"/>
            </a:solidFill>
          </c:spPr>
          <c:dPt>
            <c:idx val="5"/>
            <c:invertIfNegative val="0"/>
            <c:spPr>
              <a:solidFill xmlns:a="http://schemas.openxmlformats.org/drawingml/2006/main">
                <a:srgbClr val="00A7A0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A7A0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A7A0"/>
              </a:solidFill>
            </c:spPr>
          </c:dPt>
          <c:cat>
            <c:strRef>
              <c:f>'Chart Data'!$A$2:$A$9</c:f>
              <c:strCache>
                <c:ptCount val="8"/>
                <c:pt idx="0">
                  <c:v>Volatility std 5</c:v>
                </c:pt>
                <c:pt idx="1">
                  <c:v>Volatility lag 1</c:v>
                </c:pt>
                <c:pt idx="2">
                  <c:v>Return std 5</c:v>
                </c:pt>
                <c:pt idx="3">
                  <c:v>Volatility mean 5</c:v>
                </c:pt>
                <c:pt idx="4">
                  <c:v>Volatility std 20</c:v>
                </c:pt>
                <c:pt idx="5">
                  <c:v>Return std 20</c:v>
                </c:pt>
                <c:pt idx="6">
                  <c:v>Macro volatility index</c:v>
                </c:pt>
                <c:pt idx="7">
                  <c:v>Volatility mean 20</c:v>
                </c:pt>
              </c:strCache>
            </c:strRef>
          </c:cat>
          <c:val>
            <c:numRef>
              <c:f>'Chart Data'!$B$2:$B$9</c:f>
              <c:numCache>
                <c:formatCode>0.00</c:formatCode>
                <c:ptCount val="8"/>
                <c:pt idx="0">
                  <c:v>0.659</c:v>
                </c:pt>
                <c:pt idx="1">
                  <c:v>0.706</c:v>
                </c:pt>
                <c:pt idx="2">
                  <c:v>0.742</c:v>
                </c:pt>
                <c:pt idx="3">
                  <c:v>1.01</c:v>
                </c:pt>
                <c:pt idx="4">
                  <c:v>1.035</c:v>
                </c:pt>
                <c:pt idx="5">
                  <c:v>1.401</c:v>
                </c:pt>
                <c:pt idx="6">
                  <c:v>1.41</c:v>
                </c:pt>
                <c:pt idx="7">
                  <c:v>1.428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242F"/>
                  </a:solidFill>
                  <a:latin typeface="Avenir Next"/>
                  <a:ea typeface="Avenir Next"/>
                  <a:cs typeface="Avenir Nex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AED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E4EAE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5242F"/>
                </a:solidFill>
                <a:latin typeface="Avenir Next"/>
                <a:ea typeface="Avenir Next"/>
                <a:cs typeface="Avenir Next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Expanding outer folds across 122 development dates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 b="1">
              <a:solidFill>
                <a:srgbClr val="102638"/>
              </a:solidFill>
              <a:latin typeface="Avenir Next"/>
              <a:ea typeface="Avenir Next"/>
              <a:cs typeface="Avenir Next"/>
            </a:defRPr>
          </a:pPr>
        </a:p>
      </c:txPr>
    </c:title>
    <c:plotArea>
      <c:barChart>
        <c:barDir val="bar"/>
        <c:grouping val="stacked"/>
        <c:varyColors val="0"/>
        <c:ser>
          <c:idx val="0"/>
          <c:order val="0"/>
          <c:tx>
            <c:v>Training</c:v>
          </c:tx>
          <c:spPr>
            <a:solidFill xmlns:a="http://schemas.openxmlformats.org/drawingml/2006/main">
              <a:srgbClr val="102638"/>
            </a:solidFill>
          </c:spPr>
          <c:cat>
            <c:strRef>
              <c:f>'Chart Data'!$A$2:$A$5</c:f>
              <c:strCache>
                <c:ptCount val="4"/>
                <c:pt idx="0">
                  <c:v>Fold 4</c:v>
                </c:pt>
                <c:pt idx="1">
                  <c:v>Fold 3</c:v>
                </c:pt>
                <c:pt idx="2">
                  <c:v>Fold 2</c:v>
                </c:pt>
                <c:pt idx="3">
                  <c:v>Fold 1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97</c:v>
                </c:pt>
                <c:pt idx="1">
                  <c:v>73</c:v>
                </c:pt>
                <c:pt idx="2">
                  <c:v>49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v>Purge</c:v>
          </c:tx>
          <c:spPr>
            <a:solidFill xmlns:a="http://schemas.openxmlformats.org/drawingml/2006/main">
              <a:srgbClr val="E8A12E"/>
            </a:solidFill>
          </c:spPr>
          <c:cat>
            <c:strRef>
              <c:f>'Chart Data'!$C$2:$C$5</c:f>
              <c:strCache>
                <c:ptCount val="4"/>
                <c:pt idx="0">
                  <c:v>Fold 4</c:v>
                </c:pt>
                <c:pt idx="1">
                  <c:v>Fold 3</c:v>
                </c:pt>
                <c:pt idx="2">
                  <c:v>Fold 2</c:v>
                </c:pt>
                <c:pt idx="3">
                  <c:v>Fold 1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v>Validation</c:v>
          </c:tx>
          <c:spPr>
            <a:solidFill xmlns:a="http://schemas.openxmlformats.org/drawingml/2006/main">
              <a:srgbClr val="00A7A0"/>
            </a:solidFill>
          </c:spPr>
          <c:cat>
            <c:strRef>
              <c:f>'Chart Data'!$E$2:$E$5</c:f>
              <c:strCache>
                <c:ptCount val="4"/>
                <c:pt idx="0">
                  <c:v>Fold 4</c:v>
                </c:pt>
                <c:pt idx="1">
                  <c:v>Fold 3</c:v>
                </c:pt>
                <c:pt idx="2">
                  <c:v>Fold 2</c:v>
                </c:pt>
                <c:pt idx="3">
                  <c:v>Fold 1</c:v>
                </c:pt>
              </c:strCache>
            </c:strRef>
          </c:cat>
          <c:val>
            <c:numRef>
              <c:f>'Chart Data'!$F$2:$F$5</c:f>
              <c:numCache>
                <c:formatCode>General</c:formatCode>
                <c:ptCount val="4"/>
                <c:pt idx="0">
                  <c:v>24</c:v>
                </c:pt>
                <c:pt idx="1">
                  <c:v>24</c:v>
                </c:pt>
                <c:pt idx="2">
                  <c:v>24</c:v>
                </c:pt>
                <c:pt idx="3">
                  <c:v>24</c:v>
                </c:pt>
              </c:numCache>
            </c:numRef>
          </c:val>
        </c:ser>
        <c:ser>
          <c:idx val="3"/>
          <c:order val="3"/>
          <c:tx>
            <c:v>Later development dates</c:v>
          </c:tx>
          <c:spPr>
            <a:solidFill xmlns:a="http://schemas.openxmlformats.org/drawingml/2006/main">
              <a:srgbClr val="E4EAED"/>
            </a:solidFill>
          </c:spPr>
          <c:cat>
            <c:strRef>
              <c:f>'Chart Data'!$G$2:$G$5</c:f>
              <c:strCache>
                <c:ptCount val="4"/>
                <c:pt idx="0">
                  <c:v>Fold 4</c:v>
                </c:pt>
                <c:pt idx="1">
                  <c:v>Fold 3</c:v>
                </c:pt>
                <c:pt idx="2">
                  <c:v>Fold 2</c:v>
                </c:pt>
                <c:pt idx="3">
                  <c:v>Fold 1</c:v>
                </c:pt>
              </c:strCache>
            </c:strRef>
          </c:cat>
          <c:val>
            <c:numRef>
              <c:f>'Chart Data'!$H$2:$H$5</c:f>
              <c:numCache>
                <c:formatCode>General</c:formatCode>
                <c:ptCount val="4"/>
                <c:pt idx="0">
                  <c:v>0</c:v>
                </c:pt>
                <c:pt idx="1">
                  <c:v>24</c:v>
                </c:pt>
                <c:pt idx="2">
                  <c:v>48</c:v>
                </c:pt>
                <c:pt idx="3">
                  <c:v>72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venir Next"/>
                  <a:ea typeface="Avenir Next"/>
                  <a:cs typeface="Avenir Nex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AED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825">
                    <a:solidFill>
                      <a:srgbClr val="4E6170"/>
                    </a:solidFill>
                    <a:latin typeface="Avenir Next"/>
                    <a:ea typeface="Avenir Next"/>
                    <a:cs typeface="Avenir Next"/>
                  </a:rPr>
                  <a:t>ordered unique dates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4E6170"/>
                  </a:solidFill>
                  <a:latin typeface="Avenir Next"/>
                  <a:ea typeface="Avenir Next"/>
                  <a:cs typeface="Avenir Next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4EAE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5242F"/>
                </a:solidFill>
                <a:latin typeface="Avenir Next"/>
                <a:ea typeface="Avenir Next"/>
                <a:cs typeface="Avenir Next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4E6170"/>
              </a:solidFill>
              <a:latin typeface="Avenir Next"/>
              <a:ea typeface="Avenir Next"/>
              <a:cs typeface="Avenir Next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Pooled out-of-fold RMSE · lower is better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 b="1">
              <a:solidFill>
                <a:srgbClr val="102638"/>
              </a:solidFill>
              <a:latin typeface="Avenir Next"/>
              <a:ea typeface="Avenir Next"/>
              <a:cs typeface="Avenir Next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RMSE</c:v>
          </c:tx>
          <c:spPr>
            <a:solidFill xmlns:a="http://schemas.openxmlformats.org/drawingml/2006/main">
              <a:srgbClr val="A9B6BE"/>
            </a:solidFill>
          </c:spPr>
          <c:dPt>
            <c:idx val="5"/>
            <c:invertIfNegative val="0"/>
            <c:spPr>
              <a:solidFill xmlns:a="http://schemas.openxmlformats.org/drawingml/2006/main">
                <a:srgbClr val="00A7A0"/>
              </a:solidFill>
            </c:spPr>
          </c:dPt>
          <c:cat>
            <c:strRef>
              <c:f>'Chart Data'!$A$2:$A$7</c:f>
              <c:strCache>
                <c:ptCount val="6"/>
                <c:pt idx="0">
                  <c:v>Global mean</c:v>
                </c:pt>
                <c:pt idx="1">
                  <c:v>Sector mean</c:v>
                </c:pt>
                <c:pt idx="2">
                  <c:v>Ridge</c:v>
                </c:pt>
                <c:pt idx="3">
                  <c:v>XGBoost</c:v>
                </c:pt>
                <c:pt idx="4">
                  <c:v>LightGBM</c:v>
                </c:pt>
                <c:pt idx="5">
                  <c:v>Persistence</c:v>
                </c:pt>
              </c:strCache>
            </c:strRef>
          </c:cat>
          <c:val>
            <c:numRef>
              <c:f>'Chart Data'!$B$2:$B$7</c:f>
              <c:numCache>
                <c:formatCode>0.0000</c:formatCode>
                <c:ptCount val="6"/>
                <c:pt idx="0">
                  <c:v>0.019987</c:v>
                </c:pt>
                <c:pt idx="1">
                  <c:v>0.019835</c:v>
                </c:pt>
                <c:pt idx="2">
                  <c:v>0.019257</c:v>
                </c:pt>
                <c:pt idx="3">
                  <c:v>0.010671</c:v>
                </c:pt>
                <c:pt idx="4">
                  <c:v>0.010478</c:v>
                </c:pt>
                <c:pt idx="5">
                  <c:v>0.008556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242F"/>
                  </a:solidFill>
                  <a:latin typeface="Avenir Next"/>
                  <a:ea typeface="Avenir Next"/>
                  <a:cs typeface="Avenir Nex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AED"/>
              </a:solidFill>
              <a:prstDash val="solid"/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E4EAE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5242F"/>
                </a:solidFill>
                <a:latin typeface="Avenir Next"/>
                <a:ea typeface="Avenir Next"/>
                <a:cs typeface="Avenir Next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RMSE by outer fold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 b="1">
              <a:solidFill>
                <a:srgbClr val="102638"/>
              </a:solidFill>
              <a:latin typeface="Avenir Next"/>
              <a:ea typeface="Avenir Next"/>
              <a:cs typeface="Avenir Next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Persistence</c:v>
          </c:tx>
          <c:spPr>
            <a:ln xmlns:a="http://schemas.openxmlformats.org/drawingml/2006/main" w="38100">
              <a:solidFill>
                <a:srgbClr val="00A7A0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00A7A0"/>
              </a:solidFill>
            </c:spPr>
          </c:marker>
          <c:cat>
            <c:strRef>
              <c:f>'Chart Data'!$A$2:$A$5</c:f>
              <c:strCache>
                <c:ptCount val="4"/>
                <c:pt idx="0">
                  <c:v>Fold 1</c:v>
                </c:pt>
                <c:pt idx="1">
                  <c:v>Fold 2</c:v>
                </c:pt>
                <c:pt idx="2">
                  <c:v>Fold 3</c:v>
                </c:pt>
                <c:pt idx="3">
                  <c:v>Fold 4</c:v>
                </c:pt>
              </c:strCache>
            </c:strRef>
          </c:cat>
          <c:val>
            <c:numRef>
              <c:f>'Chart Data'!$B$2:$B$5</c:f>
              <c:numCache>
                <c:formatCode>0.000</c:formatCode>
                <c:ptCount val="4"/>
                <c:pt idx="0">
                  <c:v>0.006417</c:v>
                </c:pt>
                <c:pt idx="1">
                  <c:v>0.00643</c:v>
                </c:pt>
                <c:pt idx="2">
                  <c:v>0.008791</c:v>
                </c:pt>
                <c:pt idx="3">
                  <c:v>0.011534</c:v>
                </c:pt>
              </c:numCache>
            </c:numRef>
          </c:val>
          <c:smooth val="0"/>
        </c:ser>
        <c:ser>
          <c:idx val="1"/>
          <c:order val="1"/>
          <c:tx>
            <c:v>LightGBM</c:v>
          </c:tx>
          <c:spPr>
            <a:ln xmlns:a="http://schemas.openxmlformats.org/drawingml/2006/main" w="23813">
              <a:solidFill>
                <a:srgbClr val="517EA5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517EA5"/>
              </a:solidFill>
            </c:spPr>
          </c:marker>
          <c:cat>
            <c:strRef>
              <c:f>'Chart Data'!$C$2:$C$5</c:f>
              <c:strCache>
                <c:ptCount val="4"/>
                <c:pt idx="0">
                  <c:v>Fold 1</c:v>
                </c:pt>
                <c:pt idx="1">
                  <c:v>Fold 2</c:v>
                </c:pt>
                <c:pt idx="2">
                  <c:v>Fold 3</c:v>
                </c:pt>
                <c:pt idx="3">
                  <c:v>Fold 4</c:v>
                </c:pt>
              </c:strCache>
            </c:strRef>
          </c:cat>
          <c:val>
            <c:numRef>
              <c:f>'Chart Data'!$D$2:$D$5</c:f>
              <c:numCache>
                <c:formatCode>0.000</c:formatCode>
                <c:ptCount val="4"/>
                <c:pt idx="0">
                  <c:v>0.007158</c:v>
                </c:pt>
                <c:pt idx="1">
                  <c:v>0.006298</c:v>
                </c:pt>
                <c:pt idx="2">
                  <c:v>0.009115</c:v>
                </c:pt>
                <c:pt idx="3">
                  <c:v>0.016284</c:v>
                </c:pt>
              </c:numCache>
            </c:numRef>
          </c:val>
          <c:smooth val="0"/>
        </c:ser>
        <c:ser>
          <c:idx val="2"/>
          <c:order val="2"/>
          <c:tx>
            <c:v>XGBoost</c:v>
          </c:tx>
          <c:spPr>
            <a:ln xmlns:a="http://schemas.openxmlformats.org/drawingml/2006/main" w="23813">
              <a:solidFill>
                <a:srgbClr val="7667A8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667A8"/>
              </a:solidFill>
            </c:spPr>
          </c:marker>
          <c:cat>
            <c:strRef>
              <c:f>'Chart Data'!$E$2:$E$5</c:f>
              <c:strCache>
                <c:ptCount val="4"/>
                <c:pt idx="0">
                  <c:v>Fold 1</c:v>
                </c:pt>
                <c:pt idx="1">
                  <c:v>Fold 2</c:v>
                </c:pt>
                <c:pt idx="2">
                  <c:v>Fold 3</c:v>
                </c:pt>
                <c:pt idx="3">
                  <c:v>Fold 4</c:v>
                </c:pt>
              </c:strCache>
            </c:strRef>
          </c:cat>
          <c:val>
            <c:numRef>
              <c:f>'Chart Data'!$F$2:$F$5</c:f>
              <c:numCache>
                <c:formatCode>0.000</c:formatCode>
                <c:ptCount val="4"/>
                <c:pt idx="0">
                  <c:v>0.006874</c:v>
                </c:pt>
                <c:pt idx="1">
                  <c:v>0.005879</c:v>
                </c:pt>
                <c:pt idx="2">
                  <c:v>0.009175</c:v>
                </c:pt>
                <c:pt idx="3">
                  <c:v>0.017013</c:v>
                </c:pt>
              </c:numCache>
            </c:numRef>
          </c:val>
          <c:smooth val="0"/>
        </c:ser>
        <c:ser>
          <c:idx val="3"/>
          <c:order val="3"/>
          <c:tx>
            <c:v>Ridge</c:v>
          </c:tx>
          <c:spPr>
            <a:ln xmlns:a="http://schemas.openxmlformats.org/drawingml/2006/main" w="23813">
              <a:solidFill>
                <a:srgbClr val="E8A12E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8A12E"/>
              </a:solidFill>
            </c:spPr>
          </c:marker>
          <c:cat>
            <c:strRef>
              <c:f>'Chart Data'!$G$2:$G$5</c:f>
              <c:strCache>
                <c:ptCount val="4"/>
                <c:pt idx="0">
                  <c:v>Fold 1</c:v>
                </c:pt>
                <c:pt idx="1">
                  <c:v>Fold 2</c:v>
                </c:pt>
                <c:pt idx="2">
                  <c:v>Fold 3</c:v>
                </c:pt>
                <c:pt idx="3">
                  <c:v>Fold 4</c:v>
                </c:pt>
              </c:strCache>
            </c:strRef>
          </c:cat>
          <c:val>
            <c:numRef>
              <c:f>'Chart Data'!$H$2:$H$5</c:f>
              <c:numCache>
                <c:formatCode>0.000</c:formatCode>
                <c:ptCount val="4"/>
                <c:pt idx="0">
                  <c:v>0.00973</c:v>
                </c:pt>
                <c:pt idx="1">
                  <c:v>0.005947</c:v>
                </c:pt>
                <c:pt idx="2">
                  <c:v>0.01112</c:v>
                </c:pt>
                <c:pt idx="3">
                  <c:v>0.035066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venir Next"/>
                  <a:ea typeface="Avenir Next"/>
                  <a:cs typeface="Avenir Nex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4EAE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</a:p>
        </c:txPr>
        <c:crossAx val="48672768"/>
      </c:catAx>
      <c:valAx>
        <c:axId val="48672768"/>
        <c:scaling>
          <c:orientation val="minMax"/>
          <c:max val="0.0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AED"/>
              </a:solidFill>
              <a:prstDash val="solid"/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E4EAE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</a:p>
        </c:txPr>
        <c:crossAx val="48650112"/>
        <c:crossBetween val="between"/>
        <c:majorUnit val="0.01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4E6170"/>
              </a:solidFill>
              <a:latin typeface="Avenir Next"/>
              <a:ea typeface="Avenir Next"/>
              <a:cs typeface="Avenir Next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Sector tail-error rate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 b="1">
              <a:solidFill>
                <a:srgbClr val="102638"/>
              </a:solidFill>
              <a:latin typeface="Avenir Next"/>
              <a:ea typeface="Avenir Next"/>
              <a:cs typeface="Avenir Next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Tail rate</c:v>
          </c:tx>
          <c:spPr>
            <a:solidFill xmlns:a="http://schemas.openxmlformats.org/drawingml/2006/main">
              <a:srgbClr val="517EA5"/>
            </a:solidFill>
          </c:spPr>
          <c:dPt>
            <c:idx val="3"/>
            <c:invertIfNegative val="0"/>
            <c:spPr>
              <a:solidFill xmlns:a="http://schemas.openxmlformats.org/drawingml/2006/main">
                <a:srgbClr val="E8A12E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D86055"/>
              </a:solidFill>
            </c:spPr>
          </c:dPt>
          <c:cat>
            <c:strRef>
              <c:f>'Chart Data'!$A$2:$A$6</c:f>
              <c:strCache>
                <c:ptCount val="5"/>
                <c:pt idx="0">
                  <c:v>Energy</c:v>
                </c:pt>
                <c:pt idx="1">
                  <c:v>Industrial</c:v>
                </c:pt>
                <c:pt idx="2">
                  <c:v>Health</c:v>
                </c:pt>
                <c:pt idx="3">
                  <c:v>Technology</c:v>
                </c:pt>
                <c:pt idx="4">
                  <c:v>Finance</c:v>
                </c:pt>
              </c:strCache>
            </c:strRef>
          </c:cat>
          <c:val>
            <c:numRef>
              <c:f>'Chart Data'!$B$2:$B$6</c:f>
              <c:numCache>
                <c:formatCode>0.0%</c:formatCode>
                <c:ptCount val="5"/>
                <c:pt idx="0">
                  <c:v>0.0226</c:v>
                </c:pt>
                <c:pt idx="1">
                  <c:v>0.0458</c:v>
                </c:pt>
                <c:pt idx="2">
                  <c:v>0.0486</c:v>
                </c:pt>
                <c:pt idx="3">
                  <c:v>0.0646</c:v>
                </c:pt>
                <c:pt idx="4">
                  <c:v>0.0712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5242F"/>
                  </a:solidFill>
                  <a:latin typeface="Avenir Next"/>
                  <a:ea typeface="Avenir Next"/>
                  <a:cs typeface="Avenir Nex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AED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E4EAE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5242F"/>
                </a:solidFill>
                <a:latin typeface="Avenir Next"/>
                <a:ea typeface="Avenir Next"/>
                <a:cs typeface="Avenir Next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Selected persistence rule · development and sealed error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 b="1">
              <a:solidFill>
                <a:srgbClr val="102638"/>
              </a:solidFill>
              <a:latin typeface="Avenir Next"/>
              <a:ea typeface="Avenir Next"/>
              <a:cs typeface="Avenir Next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RMSE</c:v>
          </c:tx>
          <c:spPr>
            <a:solidFill xmlns:a="http://schemas.openxmlformats.org/drawingml/2006/main">
              <a:srgbClr val="00A7A0"/>
            </a:solidFill>
          </c:spPr>
          <c:cat>
            <c:strRef>
              <c:f>'Chart Data'!$A$2:$A$3</c:f>
              <c:strCache>
                <c:ptCount val="2"/>
                <c:pt idx="0">
                  <c:v>OOF</c:v>
                </c:pt>
                <c:pt idx="1">
                  <c:v>Sealed</c:v>
                </c:pt>
              </c:strCache>
            </c:strRef>
          </c:cat>
          <c:val>
            <c:numRef>
              <c:f>'Chart Data'!$B$2:$B$3</c:f>
              <c:numCache>
                <c:formatCode>0.0000</c:formatCode>
                <c:ptCount val="2"/>
                <c:pt idx="0">
                  <c:v>0.008556</c:v>
                </c:pt>
                <c:pt idx="1">
                  <c:v>0.011149</c:v>
                </c:pt>
              </c:numCache>
            </c:numRef>
          </c:val>
        </c:ser>
        <c:ser>
          <c:idx val="1"/>
          <c:order val="1"/>
          <c:tx>
            <c:v>MAE</c:v>
          </c:tx>
          <c:spPr>
            <a:solidFill xmlns:a="http://schemas.openxmlformats.org/drawingml/2006/main">
              <a:srgbClr val="517EA5"/>
            </a:solidFill>
          </c:spPr>
          <c:cat>
            <c:strRef>
              <c:f>'Chart Data'!$C$2:$C$3</c:f>
              <c:strCache>
                <c:ptCount val="2"/>
                <c:pt idx="0">
                  <c:v>OOF</c:v>
                </c:pt>
                <c:pt idx="1">
                  <c:v>Sealed</c:v>
                </c:pt>
              </c:strCache>
            </c:strRef>
          </c:cat>
          <c:val>
            <c:numRef>
              <c:f>'Chart Data'!$D$2:$D$3</c:f>
              <c:numCache>
                <c:formatCode>0.0000</c:formatCode>
                <c:ptCount val="2"/>
                <c:pt idx="0">
                  <c:v>0.006256</c:v>
                </c:pt>
                <c:pt idx="1">
                  <c:v>0.008025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242F"/>
                  </a:solidFill>
                  <a:latin typeface="Avenir Next"/>
                  <a:ea typeface="Avenir Next"/>
                  <a:cs typeface="Avenir Nex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4EAE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5242F"/>
                </a:solidFill>
                <a:latin typeface="Avenir Next"/>
                <a:ea typeface="Avenir Next"/>
                <a:cs typeface="Avenir Next"/>
              </a:defRPr>
            </a:pPr>
          </a:p>
        </c:txPr>
        <c:crossAx val="48672768"/>
      </c:catAx>
      <c:valAx>
        <c:axId val="48672768"/>
        <c:scaling>
          <c:orientation val="minMax"/>
          <c:max val="0.01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AED"/>
              </a:solidFill>
              <a:prstDash val="solid"/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E4EAE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</a:p>
        </c:txPr>
        <c:crossAx val="48650112"/>
        <c:crossBetween val="between"/>
        <c:majorUnit val="0.003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4E6170"/>
              </a:solidFill>
              <a:latin typeface="Avenir Next"/>
              <a:ea typeface="Avenir Next"/>
              <a:cs typeface="Avenir Next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6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3F36D-3D8E-4C28-A727-2DA17F8E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2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E0E6C7-16B6-46A6-B91A-DB2055F5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A7A0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00A7A0"/>
                </a:solidFill>
                <a:latin typeface="Avenir Next"/>
                <a:ea typeface="Avenir Next"/>
                <a:cs typeface="Avenir Next"/>
              </a:rPr>
              <a:t>VOLATILITY RESEARCH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ACC5E0-473C-4120-B646-72C9B311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7810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1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41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Panel volatility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1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41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forecasting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9346B1-65B1-41AF-95A8-FB532EBB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9D7DF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C9D7DF"/>
                </a:solidFill>
                <a:latin typeface="Avenir Next"/>
                <a:ea typeface="Avenir Next"/>
                <a:cs typeface="Avenir Next"/>
              </a:rPr>
              <a:t>End-to-end pipeline result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35EA1A-DA97-48A7-A724-5A48054A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2647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57150" tIns="0" rIns="5715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GENERATED DEMONSTRATION 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5317BC-3AB6-4C51-8E32-F8544A2B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506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5AA3D8-402B-4818-9842-9604F605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76875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4,920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7B453C-1671-4934-B20C-96DA2C36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200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FC0CA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AFC0CA"/>
                </a:solidFill>
                <a:latin typeface="Avenir Next"/>
                <a:ea typeface="Avenir Next"/>
                <a:cs typeface="Avenir Next"/>
              </a:rPr>
              <a:t>panel rows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0D7221-F2F6-405F-8FA5-522DC1CE0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76875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298D37-7932-46BE-B71D-881F9535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886450"/>
            <a:ext cx="200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FC0CA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AFC0CA"/>
                </a:solidFill>
                <a:latin typeface="Avenir Next"/>
                <a:ea typeface="Avenir Next"/>
                <a:cs typeface="Avenir Next"/>
              </a:rPr>
              <a:t>assets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5EA97E-3161-456B-9CEA-6B16A4D3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476875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37C804-CADE-4041-9CBB-E659E5097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86450"/>
            <a:ext cx="200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FC0CA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AFC0CA"/>
                </a:solidFill>
                <a:latin typeface="Avenir Next"/>
                <a:ea typeface="Avenir Next"/>
                <a:cs typeface="Avenir Next"/>
              </a:rPr>
              <a:t>outer folds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9EFC3D-6A54-4EEE-95D3-97B4FD23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5876925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AFC0CA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AFC0CA"/>
                </a:solidFill>
                <a:latin typeface="Avenir Next"/>
                <a:ea typeface="Avenir Next"/>
                <a:cs typeface="Avenir Next"/>
              </a:rPr>
              <a:t>09 Sep 2026</a:t>
            </a:r>
          </a:p>
        </p:txBody>
      </p:sp>
    </p:spTree>
    <p:extLst>
      <p:ext uri="{BB962C8B-B14F-4D97-AF65-F5344CB8AC3E}">
        <p14:creationId xmlns:p14="http://schemas.microsoft.com/office/powerpoint/2010/main" val="8430363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2B7424-11AF-44EB-B761-0F686A9D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304043-5AF3-4B05-AE91-EF2F908E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BC25AF-A7ED-41EF-B3EA-A620B587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The forecast is one step ahead at asset-date grain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EF30C8-3ACF-4D67-8050-C71BCDCE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Information available at date t predicts realized volatility at date t + 1.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6A2C6A-94A9-4E42-B843-560FC408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7096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638"/>
          </a:solidFill>
          <a:ln xmlns:a="http://schemas.openxmlformats.org/drawingml/2006/main" w="0">
            <a:noFill/>
          </a:ln>
        </p:spPr>
      </p:sp>
      <p:graphicFrame>
        <p:nvGraphicFramePr>
          <p:cNvPr id="25" name=""/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7096125" cy="37433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1123950"/>
                <a:gridCol w="876300"/>
                <a:gridCol w="2714625"/>
              </a:tblGrid>
              <a:tr h="466725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Input table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Rows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Columns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Role</a:t>
                      </a:r>
                    </a:p>
                  </a:txBody>
                  <a:tcPr marL="91440" marR="91440" marT="45720" marB="45720"/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Train observations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4,200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7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150 dates · 28 assets</a:t>
                      </a:r>
                    </a:p>
                  </a:txBody>
                  <a:tcPr marL="91440" marR="91440" marT="45720" marB="45720"/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Future observations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720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7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24 dates · 30 assets</a:t>
                      </a:r>
                    </a:p>
                  </a:txBody>
                  <a:tcPr marL="91440" marR="91440" marT="45720" marB="45720"/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Labels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4,200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Next-date target</a:t>
                      </a:r>
                    </a:p>
                  </a:txBody>
                  <a:tcPr marL="91440" marR="91440" marT="45720" marB="45720"/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Asset metadata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30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Static attributes</a:t>
                      </a:r>
                    </a:p>
                  </a:txBody>
                  <a:tcPr marL="91440" marR="91440" marT="45720" marB="45720"/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Macro releases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35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Timestamped context</a:t>
                      </a:r>
                    </a:p>
                  </a:txBody>
                  <a:tcPr marL="91440" marR="91440" marT="45720" marB="45720"/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Output template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720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Required row order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7B9527-C7E0-46D6-98CB-3D727CB7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145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A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B32EA-0BA8-4EE9-9E94-1EE61607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24025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4,200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FFE99-18B4-41F4-A3CF-AAC28492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05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labeled rows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B02864-120F-4836-9B1C-421024B9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717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E235DA-4162-41B2-B3F0-5F024A9E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0375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720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916EA3-0DD5-4C8F-85EB-379E259E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8140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future rows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B649BC-6ABB-4D78-AAFB-8EE40E18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4812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A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12D8B6-AC80-44BF-9D4A-9F8E24B9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76725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9CD679-7143-4F94-ADBE-EC7608E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577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assets in the future panel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8DD7BC-1A47-4FE7-B9BA-9A5189682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448300"/>
            <a:ext cx="29146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63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57150" tIns="0" rIns="5715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PRIMARY METRIC · POOLED OOF RMSE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810809-E3FF-4EC1-A78C-72C70698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A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9B65C4-20EC-4FEB-A28F-A4E48820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1818D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1818D"/>
                </a:solidFill>
                <a:latin typeface="Avenir Next"/>
                <a:ea typeface="Avenir Next"/>
                <a:cs typeface="Avenir Next"/>
              </a:rPr>
              <a:t>Executed notebook results · generated demonstration data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2A8E5C-2CF5-428E-9C9C-EE634538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18D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1818D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750874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DDC1ED-C38D-4B99-9308-C0CAB629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D6D05F-E2B2-4940-83F8-B1D19C80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DATA INTEGRITY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96EEE7-A7ED-403F-B6CE-C084E775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Every join preserves the panel grain and information timing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595E6F-753F-48FC-8110-B1CA4E0C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Deterministic cleaning handles known defects before cardinality-safe joins.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E8F101-D70A-49C3-8E0E-DA5A5644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095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A50B9E-F103-4ECB-90E6-1B83C239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duplicate keys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3F12BF-73CB-4B10-8532-23826E62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62100"/>
            <a:ext cx="2095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FC936C-691E-4530-8E3B-418E78E3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907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target defects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747B2A-4CE3-42E0-A890-5427BB51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562100"/>
            <a:ext cx="2095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100%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9B8014-5952-45B2-B2B6-39346725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9907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join coverage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831128-90AF-45FF-9B64-998A3A94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10972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638"/>
          </a:solidFill>
          <a:ln xmlns:a="http://schemas.openxmlformats.org/drawingml/2006/main" w="0">
            <a:noFill/>
          </a:ln>
        </p:spPr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609600" y="2486025"/>
          <a:ext xmlns:a="http://schemas.openxmlformats.org/drawingml/2006/main" cx="10972800" cy="2114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05125"/>
                <a:gridCol w="2266950"/>
                <a:gridCol w="1695450"/>
                <a:gridCol w="1695450"/>
                <a:gridCol w="2409825"/>
              </a:tblGrid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Join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Cardinality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Rows before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Rows after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Match</a:t>
                      </a:r>
                    </a:p>
                  </a:txBody>
                  <a:tcPr marL="91440" marR="91440" marT="45720" marB="45720"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Labels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one-to-one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4,200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4,200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087D79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100%</a:t>
                      </a:r>
                    </a:p>
                  </a:txBody>
                  <a:tcPr marL="91440" marR="91440" marT="45720" marB="45720">
                    <a:solidFill>
                      <a:srgbClr val="DD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Asset metadata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many-to-one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4,920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4,920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087D79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100%</a:t>
                      </a:r>
                    </a:p>
                  </a:txBody>
                  <a:tcPr marL="91440" marR="91440" marT="45720" marB="45720">
                    <a:solidFill>
                      <a:srgbClr val="DD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Macro releases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backward as-of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4,920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4,920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087D79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100%</a:t>
                      </a:r>
                    </a:p>
                  </a:txBody>
                  <a:tcPr marL="91440" marR="91440" marT="45720" marB="45720">
                    <a:solidFill>
                      <a:srgbClr val="DDF3F0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010709-C282-4E91-BB17-22F9E624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5286375" cy="1114425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FAEDD8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5AE8B-C4D8-4CDE-A34A-47809415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067300"/>
            <a:ext cx="2857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A6617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9A6617"/>
                </a:solidFill>
                <a:latin typeface="Avenir Next"/>
                <a:ea typeface="Avenir Next"/>
                <a:cs typeface="Avenir Next"/>
              </a:rPr>
              <a:t>KNOWN INPUT REPAIRS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AC583F-C757-46AD-A57D-DC98353C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12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C6059C-8466-421B-B154-B54FE4C0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5362575"/>
            <a:ext cx="46767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242F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15242F"/>
                </a:solidFill>
                <a:latin typeface="Avenir Next"/>
                <a:ea typeface="Avenir Next"/>
                <a:cs typeface="Avenir Next"/>
              </a:rPr>
              <a:t>34 missing train-volume cells remain explicit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EF4B60-5CDE-4C52-A126-F3C52AB6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24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12E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C903B9-78D2-475A-8B44-D54E84E8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5657850"/>
            <a:ext cx="46767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242F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15242F"/>
                </a:solidFill>
                <a:latin typeface="Avenir Next"/>
                <a:ea typeface="Avenir Next"/>
                <a:cs typeface="Avenir Next"/>
              </a:rPr>
              <a:t>7 infinite future option-skew values become missing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A6B0E1-A340-4B9D-8A52-8125852E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905375"/>
            <a:ext cx="5438775" cy="1114425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DDF3F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74CCB0-34F0-4E29-9773-553E0E3E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067300"/>
            <a:ext cx="2857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POINT-IN-TIME CHECK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3AD826-61D6-4367-9C76-8B08EB22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362575"/>
            <a:ext cx="4914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Every macro release timestamp is no later than its matched panel date.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0966D4-CAF5-4D14-80B9-21844880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AE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AC9D4A-DBF4-45C0-A427-56C44948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1818D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1818D"/>
                </a:solidFill>
                <a:latin typeface="Avenir Next"/>
                <a:ea typeface="Avenir Next"/>
                <a:cs typeface="Avenir Next"/>
              </a:rPr>
              <a:t>Executed notebook results · generated demonstration data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25D148-C926-4179-8B3F-C1C162DB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18D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1818D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959150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845826-E122-420F-83FC-C5EB5326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F0B77D-563F-4E76-9672-00893229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FEATURES AND DRIFT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A31867-5162-4A5C-A522-0BCBFB73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Causal features are intact, while future drift is material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4E849-F5E0-4BE5-9D3E-CDE1BCB4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Shifted entity histories enter the model. Same-date cross-sectional transforms stay disabled.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52450" y="1581150"/>
          <a:ext xmlns:a="http://schemas.openxmlformats.org/drawingml/2006/main" cx="73152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d45d9c8e5e4216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E7C8C2-B80E-47FD-9B86-42CBE865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752600"/>
            <a:ext cx="1285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3150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612F35-2D65-46F9-8AE9-E59B755C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57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numeric features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84A24-5B9D-456E-8C7D-4E83A0D9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752600"/>
            <a:ext cx="123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3150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+ 2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F3D744-6655-41F2-BFEA-0C4D5700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2574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categorical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D040DA-F382-4532-86D5-145F25F3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241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2CBC68-40E7-4391-ABE0-C2F99DB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28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3ABA6B-BE89-493F-8E40-18B5EF62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962275"/>
            <a:ext cx="29622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5242F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15242F"/>
                </a:solidFill>
                <a:latin typeface="Avenir Next"/>
                <a:ea typeface="Avenir Next"/>
                <a:cs typeface="Avenir Next"/>
              </a:rPr>
              <a:t>5- and 20-observation rolling statistics use a one-row shift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A4A28C-0159-4B35-9B6F-6CDD0D36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B7ED7F-25E9-46EE-9A8E-A0449637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609975"/>
            <a:ext cx="29622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5242F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15242F"/>
                </a:solidFill>
                <a:latin typeface="Avenir Next"/>
                <a:ea typeface="Avenir Next"/>
                <a:cs typeface="Avenir Next"/>
              </a:rPr>
              <a:t>Row, asset, time and target fields stay outside the model matrix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F03968-C9E3-47AF-8AE4-1E44A5A6E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24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12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A42F85-EACF-41E0-9B83-15A09F34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257675"/>
            <a:ext cx="29622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5242F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15242F"/>
                </a:solidFill>
                <a:latin typeface="Avenir Next"/>
                <a:ea typeface="Avenir Next"/>
                <a:cs typeface="Avenir Next"/>
              </a:rPr>
              <a:t>Same-date panel transforms are off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ADC0AF-EBF7-4D4B-954C-B0E89FF7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48225"/>
            <a:ext cx="31432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DDF3F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97126D-F34B-4D1D-A0F5-00D64AE8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010150"/>
            <a:ext cx="1714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6.67%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DDB45B-580B-4D61-A077-32D5A1BC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438775"/>
            <a:ext cx="2628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future rows belong to an unseen group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2F2D3E-93CC-44EB-886D-1DF303F2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A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09C8C8-CC67-44F0-97B7-BEC8C1FB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1818D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1818D"/>
                </a:solidFill>
                <a:latin typeface="Avenir Next"/>
                <a:ea typeface="Avenir Next"/>
                <a:cs typeface="Avenir Next"/>
              </a:rPr>
              <a:t>Executed notebook results · generated demonstration 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FC7D1E-0CA2-4C66-A548-7CCFEBE3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18D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1818D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926484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CB329B-DAD0-44DD-A9B8-0CCCED4C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A177AB-8A67-495B-A5F2-7FB50F0E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VALIDATION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AE4252-872F-483E-B5C6-3DC80D99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Purged whole-date folds make the OOF comparison honest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E0B83-B3E7-4361-BA92-493AFF56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Every candidate scores the same complete dates. Learned-model tuning stays inside each outer training block.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52450" y="1571625"/>
          <a:ext xmlns:a="http://schemas.openxmlformats.org/drawingml/2006/main" cx="7953375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4663bb9248b4bb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3226D6-CF20-42FE-9E97-57AB2E21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85925"/>
            <a:ext cx="277177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DF3F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1C19AF-0A33-476C-A28D-0148D231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1847850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2775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2,688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2A5FD0-7309-4228-B26F-8F31FE45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295525"/>
            <a:ext cx="2333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unique OOF rows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5E29C-8CC4-49DA-A1A7-07699726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048000"/>
            <a:ext cx="762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122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D989E3-5798-408D-A945-08C473CE7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development dates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E28B9E-AFE0-49FC-AA98-F4E2A411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533775"/>
            <a:ext cx="762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8A12E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E8A12E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2C2956-3584-4C2E-9B08-F292341F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909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boundary purge 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CD70D7-09E9-40CD-927D-15FF7A8D1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019550"/>
            <a:ext cx="762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27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EE14D7-2A33-48B1-818F-E23D39BB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76700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sealed dates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DBB244-609C-48E0-A9C1-74B8FFDF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505325"/>
            <a:ext cx="762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672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81A6B7-A973-479D-B899-E6BAE75B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62475"/>
            <a:ext cx="1771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rows per validation fold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D3B276-DA31-439D-A585-7BB6EE96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676275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102638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97F30D-17B3-4C4D-B017-A4A793F2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A7A0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00A7A0"/>
                </a:solidFill>
                <a:latin typeface="Avenir Next"/>
                <a:ea typeface="Avenir Next"/>
                <a:cs typeface="Avenir Next"/>
              </a:rPr>
              <a:t>NESTED 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227738-BD33-4436-8C64-D6E7F0CF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562600"/>
            <a:ext cx="885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Each learned model runs a fresh three-fold inner time search inside every outer training block.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4C251B-1B5D-46E5-B67E-E8C3D639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A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450D67-62CE-4C78-B64D-A3335C88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1818D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1818D"/>
                </a:solidFill>
                <a:latin typeface="Avenir Next"/>
                <a:ea typeface="Avenir Next"/>
                <a:cs typeface="Avenir Next"/>
              </a:rPr>
              <a:t>Executed notebook results · generated demonstration 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037A48-3C86-4E1F-A97D-98E5266A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18D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1818D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258056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DC5772-657A-4658-BEB9-03E3CEA4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A4642D-A7D2-4AE9-8F12-CD3286F4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MODEL SELECTION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7CB717-E71D-4F19-8C42-0FA02E39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Persistence wins the declared OOF objective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B1CAAE-0BE6-4D24-8DB6-E018DE976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Learned models improve rank correlation slightly, but they lose the volatility-level error comparison.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476250" y="1552575"/>
          <a:ext xmlns:a="http://schemas.openxmlformats.org/drawingml/2006/main" cx="7029450" cy="4476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288daef4f747b5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C4F8D-CC50-47EA-BDB5-7EE6882D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09725"/>
            <a:ext cx="2857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57150" tIns="0" rIns="5715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SELECTED · PERSISTENCE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7C9E5D-9ECA-46DF-AC6C-A0722E6C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2925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0.008556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4B3133-B5DD-4A7A-A65D-37534D50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5527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pooled OOF RMSE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89BFCB-0B83-4F1F-B94B-419F9487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48000"/>
            <a:ext cx="37338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638"/>
          </a:solidFill>
          <a:ln xmlns:a="http://schemas.openxmlformats.org/drawingml/2006/main" w="0">
            <a:noFill/>
          </a:ln>
        </p:spPr>
      </p:sp>
      <p:graphicFrame>
        <p:nvGraphicFramePr>
          <p:cNvPr id="25" name=""/>
          <p:cNvGraphicFramePr/>
          <p:nvPr/>
        </p:nvGraphicFramePr>
        <p:xfrm>
          <a:off xmlns:a="http://schemas.openxmlformats.org/drawingml/2006/main" x="7848600" y="3048000"/>
          <a:ext xmlns:a="http://schemas.openxmlformats.org/drawingml/2006/main" cx="37338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62100"/>
                <a:gridCol w="952500"/>
                <a:gridCol w="1219200"/>
              </a:tblGrid>
              <a:tr h="42862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Candidate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MAE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Daily rank IC</a:t>
                      </a:r>
                    </a:p>
                  </a:txBody>
                  <a:tcPr marL="91440" marR="91440" marT="45720" marB="45720"/>
                </a:tc>
              </a:tr>
              <a:tr h="409575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Persistence</a:t>
                      </a:r>
                    </a:p>
                  </a:txBody>
                  <a:tcPr marL="91440" marR="91440" marT="45720" marB="45720">
                    <a:solidFill>
                      <a:srgbClr val="DDF3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0.006256</a:t>
                      </a:r>
                    </a:p>
                  </a:txBody>
                  <a:tcPr marL="91440" marR="91440" marT="45720" marB="45720">
                    <a:solidFill>
                      <a:srgbClr val="DDF3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0.8466</a:t>
                      </a:r>
                    </a:p>
                  </a:txBody>
                  <a:tcPr marL="91440" marR="91440" marT="45720" marB="45720">
                    <a:solidFill>
                      <a:srgbClr val="DDF3F0"/>
                    </a:solidFill>
                  </a:tcPr>
                </a:tc>
              </a:tr>
              <a:tr h="409575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LightGBM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0.007120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0.8561</a:t>
                      </a:r>
                    </a:p>
                  </a:txBody>
                  <a:tcPr marL="91440" marR="91440" marT="45720" marB="45720"/>
                </a:tc>
              </a:tr>
              <a:tr h="409575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XGBoost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0.007102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0.8578</a:t>
                      </a:r>
                    </a:p>
                  </a:txBody>
                  <a:tcPr marL="91440" marR="91440" marT="45720" marB="45720"/>
                </a:tc>
              </a:tr>
              <a:tr h="409575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Ridge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0.009738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0.8741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4C1619-D6A9-474E-A64A-A3CB99F0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476875"/>
            <a:ext cx="3733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AEDD8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53AC6E-1F2A-423B-80BA-9DC51D58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5600700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5D1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8A5D19"/>
                </a:solidFill>
                <a:latin typeface="Avenir Next"/>
                <a:ea typeface="Avenir Next"/>
                <a:cs typeface="Avenir Next"/>
              </a:rPr>
              <a:t>LightGBM shows −22.5% skill versus persistence on RMSE.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D28F15-1CFE-41FC-AF50-E38E3BA7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A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0538FC-93B3-48CF-A071-8EF5696A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1818D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1818D"/>
                </a:solidFill>
                <a:latin typeface="Avenir Next"/>
                <a:ea typeface="Avenir Next"/>
                <a:cs typeface="Avenir Next"/>
              </a:rPr>
              <a:t>Executed notebook results · generated demonstration 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D3A4C4-A662-4276-952F-EC73049C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18D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1818D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639214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09D872-754B-4365-81EE-F3626E9B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47328D-3EE7-4C8A-95EB-B172809F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STABILITY DIAGNOSIS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D33C41-3200-4DE7-9C9C-C8FEEDDB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The error budget concentrates in stress periods and late folds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6FC3F1-047D-4595-B303-D3C70AB9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Persistence wins three of four folds. Cross-sector tail behavior is uneven but not isolated to one group.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04825" y="1543050"/>
          <a:ext xmlns:a="http://schemas.openxmlformats.org/drawingml/2006/main" cx="642937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2fabc569c34553"/>
          </a:graphicData>
        </a:graphic>
      </p:graphicFrame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7829550" y="1543050"/>
          <a:ext xmlns:a="http://schemas.openxmlformats.org/drawingml/2006/main" cx="3810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5468ced69b48af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A2D2E4-E06F-4137-B1A9-4895B840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33528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DDF3F0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47EF56-3F81-4E42-811A-FCE47EA9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67325"/>
            <a:ext cx="1219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1.90×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805119-5627-4FD2-9C36-D0D8E6A6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314950"/>
            <a:ext cx="1714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high-regime MAE</a:t>
            </a:r>
          </a:p>
          <a:p xmlns:a="http://schemas.openxmlformats.org/drawingml/2006/main">
            <a:pPr algn="l">
              <a:defRPr sz="1125" b="0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versus low regime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E8492E-0FA8-4C10-AC00-D565DD98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133975"/>
            <a:ext cx="33528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1F4F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265B11-F4B5-4E08-8652-FA506459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267325"/>
            <a:ext cx="1428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96 / 96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9BD031-65D9-4527-851E-2CD529BD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5267325"/>
            <a:ext cx="15811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dates with positive rank IC</a:t>
            </a:r>
          </a:p>
          <a:p xmlns:a="http://schemas.openxmlformats.org/drawingml/2006/main">
            <a:pPr algn="l">
              <a:defRPr sz="1050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mean 0.8466 · worst 0.7471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44926C-FF9C-465E-B0D6-687B26E2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33975"/>
            <a:ext cx="3810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AEDD8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707F6A-062C-4F8E-9522-077E363F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267325"/>
            <a:ext cx="1390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8A5D19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8A5D19"/>
                </a:solidFill>
                <a:latin typeface="Avenir Next"/>
                <a:ea typeface="Avenir Next"/>
                <a:cs typeface="Avenir Next"/>
              </a:rPr>
              <a:t>−0.302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42EEA6-7B4F-4A3D-8237-9F0B4866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14950"/>
            <a:ext cx="1962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79551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79551E"/>
                </a:solidFill>
                <a:latin typeface="Avenir Next"/>
                <a:ea typeface="Avenir Next"/>
                <a:cs typeface="Avenir Next"/>
              </a:rPr>
              <a:t>mean lag-one residual correlation</a:t>
            </a:r>
          </a:p>
          <a:p xmlns:a="http://schemas.openxmlformats.org/drawingml/2006/main">
            <a:pPr algn="l">
              <a:defRPr sz="1050" b="0">
                <a:solidFill>
                  <a:srgbClr val="79551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79551E"/>
                </a:solidFill>
                <a:latin typeface="Avenir Next"/>
                <a:ea typeface="Avenir Next"/>
                <a:cs typeface="Avenir Next"/>
              </a:rPr>
              <a:t>within fold and asset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EF1F42-DFD2-4DF8-88DC-A785FF68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A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A3A943-3142-4326-8544-C40A1B3D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1818D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1818D"/>
                </a:solidFill>
                <a:latin typeface="Avenir Next"/>
                <a:ea typeface="Avenir Next"/>
                <a:cs typeface="Avenir Next"/>
              </a:rPr>
              <a:t>Executed notebook results · generated demonstration 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274F6C-D10E-4213-ADDF-A4A964039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18D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1818D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369760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08AA80-6DA7-42B7-8840-C02C6C33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6F8FF3-81F3-42E1-8705-846071E1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SEALED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6E4AFE-B57F-4695-A77D-C046FD53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The sealed tail keeps the rule locked, while error rises 30%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35E4E8-7BDA-458F-9E73-F3FC2755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The final stage opens 27 held-out dates once, then refits on every labeled row for delivery.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495300" y="1552575"/>
          <a:ext xmlns:a="http://schemas.openxmlformats.org/drawingml/2006/main" cx="633412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59b88bcc47442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D2A9F2-B19A-4E95-A348-908C167B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619250"/>
            <a:ext cx="3028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57150" tIns="0" rIns="5715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02638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02638"/>
                </a:solidFill>
                <a:latin typeface="Avenir Next"/>
                <a:ea typeface="Avenir Next"/>
                <a:cs typeface="Avenir Next"/>
              </a:rPr>
              <a:t>LOCKED RULE · PERSISTENCE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64A636-9A51-4605-9144-B0E763E1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764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87D79"/>
                </a:solidFill>
                <a:latin typeface="Avenir Next"/>
                <a:ea typeface="Avenir Next"/>
                <a:cs typeface="Avenir Next"/>
              </a:defRPr>
            </a:pPr>
            <a:r>
              <a:rPr sz="3150" b="1">
                <a:solidFill>
                  <a:srgbClr val="087D79"/>
                </a:solidFill>
                <a:latin typeface="Avenir Next"/>
                <a:ea typeface="Avenir Next"/>
                <a:cs typeface="Avenir Next"/>
              </a:rPr>
              <a:t>0.011149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8FC62E-849C-46CB-A5FB-1DB29BAC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6289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sealed RMSE on 756 rows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F2B69E-7C70-4D7A-ABD7-98B881E0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33725"/>
            <a:ext cx="2381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E8A12E"/>
                </a:solidFill>
                <a:latin typeface="Avenir Next"/>
                <a:ea typeface="Avenir Next"/>
                <a:cs typeface="Avenir Next"/>
              </a:defRPr>
            </a:pPr>
            <a:r>
              <a:rPr sz="2700" b="1">
                <a:solidFill>
                  <a:srgbClr val="E8A12E"/>
                </a:solidFill>
                <a:latin typeface="Avenir Next"/>
                <a:ea typeface="Avenir Next"/>
                <a:cs typeface="Avenir Next"/>
              </a:rPr>
              <a:t>+30.3%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BAFB6A-0B2F-4F65-90E1-21197561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60997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E6170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4E6170"/>
                </a:solidFill>
                <a:latin typeface="Avenir Next"/>
                <a:ea typeface="Avenir Next"/>
                <a:cs typeface="Avenir Next"/>
              </a:rPr>
              <a:t>versus pooled OOF RMSE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75D400-53CB-4052-8E26-0C7F7CEB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05765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A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E5C0F8-A9FB-4FAF-B783-F39D320F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343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4A96D7-E55A-4EA9-B993-21D6FBAA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4276725"/>
            <a:ext cx="3676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242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5242F"/>
                </a:solidFill>
                <a:latin typeface="Avenir Next"/>
                <a:ea typeface="Avenir Next"/>
                <a:cs typeface="Avenir Next"/>
              </a:rPr>
              <a:t>Keep persistence as the level-forecast rule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9B62D6-A9C2-4F47-878A-CEC19E13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14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12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4EF73A-2441-4E58-9A40-0BD482BC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4648200"/>
            <a:ext cx="3676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5242F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15242F"/>
                </a:solidFill>
                <a:latin typeface="Avenir Next"/>
                <a:ea typeface="Avenir Next"/>
                <a:cs typeface="Avenir Next"/>
              </a:rPr>
              <a:t>Prioritize future drift and high-volatility periods next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0C55F0-C1B2-4AE1-BDEB-B9EF96F3D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638"/>
          </a:solidFill>
          <a:ln xmlns:a="http://schemas.openxmlformats.org/drawingml/2006/main" w="0">
            <a:noFill/>
          </a:ln>
        </p:spPr>
      </p:sp>
      <p:graphicFrame>
        <p:nvGraphicFramePr>
          <p:cNvPr id="37" name=""/>
          <p:cNvGraphicFramePr/>
          <p:nvPr/>
        </p:nvGraphicFramePr>
        <p:xfrm>
          <a:off xmlns:a="http://schemas.openxmlformats.org/drawingml/2006/main" x="609600" y="5210175"/>
          <a:ext xmlns:a="http://schemas.openxmlformats.org/drawingml/2006/main" cx="10972800" cy="895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09575">
                <a:tc>
                  <a:txBody>
                    <a:bodyPr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Final fit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Forecast output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Row alignment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Prediction validity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4,200 labeled rows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720 future rows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Exact sample order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5242F"/>
                          </a:solidFill>
                          <a:latin typeface="Avenir Next"/>
                          <a:ea typeface="Avenir Next"/>
                          <a:cs typeface="Avenir Next"/>
                        </a:rPr>
                        <a:t>Finite and positive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E22013-6631-4B45-906A-90544F69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A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B9645A-6AFC-4E2F-97DC-4480453B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1818D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1818D"/>
                </a:solidFill>
                <a:latin typeface="Avenir Next"/>
                <a:ea typeface="Avenir Next"/>
                <a:cs typeface="Avenir Next"/>
              </a:rPr>
              <a:t>Executed notebook results · generated demonstration 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7793E0-D400-4BF6-96C9-017409D9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71818D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1818D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26192745"/>
      </p:ext>
    </p:extLst>
  </p:cSld>
</p:sld>
</file>

<file path=ppt/theme/theme1.xml><?xml version="1.0" encoding="utf-8"?>
<a:theme xmlns:a="http://schemas.openxmlformats.org/drawingml/2006/main" name="ChatGPT">
  <a:themeElements>
    <a:clrScheme name="Volatility Research">
      <a:dk1>
        <a:srgbClr val="000000"/>
      </a:dk1>
      <a:lt1>
        <a:srgbClr val="FFFFFF"/>
      </a:lt1>
      <a:dk2>
        <a:srgbClr val="102638"/>
      </a:dk2>
      <a:lt2>
        <a:srgbClr val="E4EAED"/>
      </a:lt2>
      <a:accent1>
        <a:srgbClr val="00A7A0"/>
      </a:accent1>
      <a:accent2>
        <a:srgbClr val="517EA5"/>
      </a:accent2>
      <a:accent3>
        <a:srgbClr val="E8A12E"/>
      </a:accent3>
      <a:accent4>
        <a:srgbClr val="D86055"/>
      </a:accent4>
      <a:accent5>
        <a:srgbClr val="7667A8"/>
      </a:accent5>
      <a:accent6>
        <a:srgbClr val="087D79"/>
      </a:accent6>
      <a:hlink>
        <a:srgbClr val="517EA5"/>
      </a:hlink>
      <a:folHlink>
        <a:srgbClr val="7667A8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Volatility Research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2026-09-09T18:00:38.0500000Z</dcterms:created>
  <dcterms:modified xsi:type="dcterms:W3CDTF">2026-09-09T18:00:38.0500000Z</dcterms:modified>
</coreProperties>
</file>